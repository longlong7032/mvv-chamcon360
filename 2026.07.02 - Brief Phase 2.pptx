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officedocument.obfuscatedFont" Extension="odttf"/>
  <Default ContentType="application/vnd.openxmlformats-officedocument.wordprocessingml.document" Extension="docx"/>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wordprocessingml.document" PartName="/ppt/embeddings/Microsoft_Office_Word_Document2.docx"/>
  <Override ContentType="application/vnd.openxmlformats-officedocument.wordprocessingml.document" PartName="/ppt/embeddings/Microsoft_Office_Word_Document1.docx"/>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spreadsheetml.sheet" PartName="/ppt/embeddings/Microsoft_Excel_Sheet2.xlsx"/>
  <Override ContentType="application/vnd.openxmlformats-officedocument.spreadsheetml.sheet" PartName="/ppt/embeddings/Microsoft_Excel_Sheet1.xlsx"/>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12192000"/>
  <p:notesSz cx="6858000" cy="9144000"/>
  <p:embeddedFontLst>
    <p:embeddedFont>
      <p:font typeface="Play"/>
      <p:regular r:id="rId31"/>
      <p:bold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3" roundtripDataSignature="AMtx7mgq5tvGLEorX8ju4VWqy7ZrlHn6a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7F428B4-F8E9-40C2-9FEF-4FABCB7235EE}">
  <a:tblStyle styleId="{17F428B4-F8E9-40C2-9FEF-4FABCB7235EE}" styleName="Table_0">
    <a:wholeTbl>
      <a:tcTxStyle b="off" i="off">
        <a:font>
          <a:latin typeface="Aptos"/>
          <a:ea typeface="Aptos"/>
          <a:cs typeface="Apto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9EC"/>
          </a:solidFill>
        </a:fill>
      </a:tcStyle>
    </a:wholeTbl>
    <a:band1H>
      <a:tcTxStyle b="off" i="off"/>
      <a:tcStyle>
        <a:fill>
          <a:solidFill>
            <a:srgbClr val="CAD1D8"/>
          </a:solidFill>
        </a:fill>
      </a:tcStyle>
    </a:band1H>
    <a:band2H>
      <a:tcTxStyle b="off" i="off"/>
    </a:band2H>
    <a:band1V>
      <a:tcTxStyle b="off" i="off"/>
      <a:tcStyle>
        <a:fill>
          <a:solidFill>
            <a:srgbClr val="CAD1D8"/>
          </a:solidFill>
        </a:fill>
      </a:tcStyle>
    </a:band1V>
    <a:band2V>
      <a:tcTxStyle b="off" i="off"/>
    </a:band2V>
    <a:lastCol>
      <a:tcTxStyle b="on" i="off">
        <a:font>
          <a:latin typeface="Aptos"/>
          <a:ea typeface="Aptos"/>
          <a:cs typeface="Aptos"/>
        </a:font>
        <a:schemeClr val="lt1"/>
      </a:tcTxStyle>
      <a:tcStyle>
        <a:fill>
          <a:solidFill>
            <a:schemeClr val="accent1"/>
          </a:solidFill>
        </a:fill>
      </a:tcStyle>
    </a:lastCol>
    <a:firstCol>
      <a:tcTxStyle b="on" i="off">
        <a:font>
          <a:latin typeface="Aptos"/>
          <a:ea typeface="Aptos"/>
          <a:cs typeface="Aptos"/>
        </a:font>
        <a:schemeClr val="lt1"/>
      </a:tcTxStyle>
      <a:tcStyle>
        <a:fill>
          <a:solidFill>
            <a:schemeClr val="accent1"/>
          </a:solidFill>
        </a:fill>
      </a:tcStyle>
    </a:firstCol>
    <a:lastRow>
      <a:tcTxStyle b="on" i="off">
        <a:font>
          <a:latin typeface="Aptos"/>
          <a:ea typeface="Aptos"/>
          <a:cs typeface="Apto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ptos"/>
          <a:ea typeface="Aptos"/>
          <a:cs typeface="Apto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603347AA-3ED7-40BA-831F-9B441AAF0A51}"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lay-regular.fntdata"/><Relationship Id="rId30" Type="http://schemas.openxmlformats.org/officeDocument/2006/relationships/slide" Target="slides/slide25.xml"/><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Play-bold.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7.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 name="Google Shape;10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 name="Google Shape;11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 name="Google Shape;14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 name="Google Shape;16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8" name="Google Shape;18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6" name="Google Shape;19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3" name="Google Shape;21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2" name="Google Shape;22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3" name="Google Shape;23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5" name="Google Shape;24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5" name="Google Shape;25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6" name="Google Shape;26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5" name="Google Shape;275;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7" name="Google Shape;28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6" name="Google Shape;29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ebe6d4c66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5" name="Google Shape;305;g3ebe6d4c66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f2fb805f8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4" name="Google Shape;314;g3f2fb805f8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f60a83da5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3" name="Google Shape;323;g3f60a83da5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f6a9e4d29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Thay thế vùng màn hình bằng Text này</a:t>
            </a:r>
            <a:endParaRPr/>
          </a:p>
        </p:txBody>
      </p:sp>
      <p:sp>
        <p:nvSpPr>
          <p:cNvPr id="344" name="Google Shape;344;g3f6a9e4d29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26" name="Google Shape;26;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2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3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2"/>
          <p:cNvSpPr/>
          <p:nvPr>
            <p:ph idx="2" type="pic"/>
          </p:nvPr>
        </p:nvSpPr>
        <p:spPr>
          <a:xfrm>
            <a:off x="5183188" y="987425"/>
            <a:ext cx="6172200" cy="4873625"/>
          </a:xfrm>
          <a:prstGeom prst="rect">
            <a:avLst/>
          </a:prstGeom>
          <a:noFill/>
          <a:ln>
            <a:noFill/>
          </a:ln>
        </p:spPr>
      </p:sp>
      <p:sp>
        <p:nvSpPr>
          <p:cNvPr id="64" name="Google Shape;64;p3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9" name="Google Shape;9;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0" name="Google Shape;10;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6.png"/><Relationship Id="rId5" Type="http://schemas.openxmlformats.org/officeDocument/2006/relationships/image" Target="../media/image3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vmlDrawing" Target="../drawings/vmlDrawing1.vml"/><Relationship Id="rId4" Type="http://schemas.openxmlformats.org/officeDocument/2006/relationships/image" Target="../media/image2.png"/><Relationship Id="rId5" Type="http://schemas.openxmlformats.org/officeDocument/2006/relationships/package" Target="../embeddings/Microsoft_Office_Word_Document1.docx"/><Relationship Id="rId6" Type="http://schemas.openxmlformats.org/officeDocument/2006/relationships/package" Target="../embeddings/Microsoft_Office_Word_Document1.docx"/><Relationship Id="rId7"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vmlDrawing" Target="../drawings/vmlDrawing2.vml"/><Relationship Id="rId4" Type="http://schemas.openxmlformats.org/officeDocument/2006/relationships/image" Target="../media/image2.png"/><Relationship Id="rId5" Type="http://schemas.openxmlformats.org/officeDocument/2006/relationships/package" Target="../embeddings/Microsoft_Office_Word_Document2.docx"/><Relationship Id="rId6" Type="http://schemas.openxmlformats.org/officeDocument/2006/relationships/package" Target="../embeddings/Microsoft_Office_Word_Document2.docx"/><Relationship Id="rId7"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vmlDrawing" Target="../drawings/vmlDrawing3.vml"/><Relationship Id="rId4" Type="http://schemas.openxmlformats.org/officeDocument/2006/relationships/image" Target="../media/image2.png"/><Relationship Id="rId9"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38.png"/><Relationship Id="rId7" Type="http://schemas.openxmlformats.org/officeDocument/2006/relationships/package" Target="../embeddings/Microsoft_Excel_Sheet1.xlsx"/><Relationship Id="rId8" Type="http://schemas.openxmlformats.org/officeDocument/2006/relationships/package" Target="../embeddings/Microsoft_Excel_Sheet1.xlsx"/></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8.png"/><Relationship Id="rId6"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8.jpg"/><Relationship Id="rId5" Type="http://schemas.openxmlformats.org/officeDocument/2006/relationships/image" Target="../media/image15.png"/><Relationship Id="rId6" Type="http://schemas.openxmlformats.org/officeDocument/2006/relationships/image" Target="../media/image10.png"/><Relationship Id="rId7" Type="http://schemas.openxmlformats.org/officeDocument/2006/relationships/image" Target="../media/image3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4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hyperlink" Target="https://play.google.com/store/apps/details?id=com.brandedbrothers.memogame" TargetMode="External"/><Relationship Id="rId5" Type="http://schemas.openxmlformats.org/officeDocument/2006/relationships/image" Target="../media/image19.png"/><Relationship Id="rId6"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vmlDrawing" Target="../drawings/vmlDrawing4.vml"/><Relationship Id="rId4" Type="http://schemas.openxmlformats.org/officeDocument/2006/relationships/image" Target="../media/image2.png"/><Relationship Id="rId11" Type="http://schemas.openxmlformats.org/officeDocument/2006/relationships/image" Target="../media/image17.png"/><Relationship Id="rId10" Type="http://schemas.openxmlformats.org/officeDocument/2006/relationships/oleObject" Target="../embeddings/oleObject1.bin"/><Relationship Id="rId9" Type="http://schemas.openxmlformats.org/officeDocument/2006/relationships/oleObject" Target="../embeddings/oleObject1.bin"/><Relationship Id="rId5" Type="http://schemas.openxmlformats.org/officeDocument/2006/relationships/image" Target="../media/image9.png"/><Relationship Id="rId6" Type="http://schemas.openxmlformats.org/officeDocument/2006/relationships/package" Target="../embeddings/Microsoft_Excel_Sheet2.xlsx"/><Relationship Id="rId7" Type="http://schemas.openxmlformats.org/officeDocument/2006/relationships/package" Target="../embeddings/Microsoft_Excel_Sheet2.xlsx"/><Relationship Id="rId8"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37.png"/><Relationship Id="rId5" Type="http://schemas.openxmlformats.org/officeDocument/2006/relationships/image" Target="../media/image24.png"/><Relationship Id="rId6" Type="http://schemas.openxmlformats.org/officeDocument/2006/relationships/image" Target="../media/image20.png"/><Relationship Id="rId7"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25.png"/><Relationship Id="rId5"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6.png"/><Relationship Id="rId4" Type="http://schemas.openxmlformats.org/officeDocument/2006/relationships/image" Target="../media/image2.png"/><Relationship Id="rId5" Type="http://schemas.openxmlformats.org/officeDocument/2006/relationships/image" Target="../media/image33.png"/><Relationship Id="rId6"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380247" y="1142010"/>
            <a:ext cx="11162923" cy="4467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rgbClr val="0070C0"/>
              </a:buClr>
              <a:buSzPct val="100000"/>
              <a:buFont typeface="Times New Roman"/>
              <a:buNone/>
            </a:pPr>
            <a:r>
              <a:rPr b="1" lang="en-US" sz="2800">
                <a:solidFill>
                  <a:srgbClr val="0070C0"/>
                </a:solidFill>
                <a:latin typeface="Times New Roman"/>
                <a:ea typeface="Times New Roman"/>
                <a:cs typeface="Times New Roman"/>
                <a:sym typeface="Times New Roman"/>
              </a:rPr>
              <a:t>BỔ SUNG VÀ NÂNG CẤP MỘT TÍNH NĂNG APP CHĂM CON 360 – Phase 2</a:t>
            </a:r>
            <a:endParaRPr/>
          </a:p>
        </p:txBody>
      </p:sp>
      <p:pic>
        <p:nvPicPr>
          <p:cNvPr descr="A logo with a group of people&#10;&#10;AI-generated content may be incorrect." id="85" name="Google Shape;85;p1"/>
          <p:cNvPicPr preferRelativeResize="0"/>
          <p:nvPr/>
        </p:nvPicPr>
        <p:blipFill rotWithShape="1">
          <a:blip r:embed="rId3">
            <a:alphaModFix/>
          </a:blip>
          <a:srcRect b="11595" l="7194" r="9995" t="15195"/>
          <a:stretch/>
        </p:blipFill>
        <p:spPr>
          <a:xfrm>
            <a:off x="4350379" y="2138104"/>
            <a:ext cx="2729431" cy="24129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ctrTitle"/>
          </p:nvPr>
        </p:nvSpPr>
        <p:spPr>
          <a:xfrm>
            <a:off x="1342930" y="268525"/>
            <a:ext cx="10245506" cy="446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70C0"/>
              </a:buClr>
              <a:buSzPts val="2400"/>
              <a:buFont typeface="Times New Roman"/>
              <a:buNone/>
            </a:pPr>
            <a:r>
              <a:rPr b="1" lang="en-US" sz="2400">
                <a:solidFill>
                  <a:srgbClr val="0070C0"/>
                </a:solidFill>
                <a:latin typeface="Times New Roman"/>
                <a:ea typeface="Times New Roman"/>
                <a:cs typeface="Times New Roman"/>
                <a:sym typeface="Times New Roman"/>
              </a:rPr>
              <a:t>NỘI DUNG</a:t>
            </a:r>
            <a:endParaRPr/>
          </a:p>
        </p:txBody>
      </p:sp>
      <p:pic>
        <p:nvPicPr>
          <p:cNvPr descr="A logo with a group of people&#10;&#10;AI-generated content may be incorrect." id="91" name="Google Shape;91;p2"/>
          <p:cNvPicPr preferRelativeResize="0"/>
          <p:nvPr/>
        </p:nvPicPr>
        <p:blipFill rotWithShape="1">
          <a:blip r:embed="rId3">
            <a:alphaModFix/>
          </a:blip>
          <a:srcRect b="11595" l="7194" r="9995" t="15195"/>
          <a:stretch/>
        </p:blipFill>
        <p:spPr>
          <a:xfrm>
            <a:off x="0" y="65757"/>
            <a:ext cx="964005" cy="852236"/>
          </a:xfrm>
          <a:prstGeom prst="rect">
            <a:avLst/>
          </a:prstGeom>
          <a:noFill/>
          <a:ln>
            <a:noFill/>
          </a:ln>
        </p:spPr>
      </p:pic>
      <p:sp>
        <p:nvSpPr>
          <p:cNvPr id="92" name="Google Shape;92;p2"/>
          <p:cNvSpPr txBox="1"/>
          <p:nvPr/>
        </p:nvSpPr>
        <p:spPr>
          <a:xfrm>
            <a:off x="7840301" y="5232903"/>
            <a:ext cx="200986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Điểm bình quân:</a:t>
            </a:r>
            <a:endParaRPr b="0" i="0" sz="1400" u="none" cap="none" strike="noStrike">
              <a:solidFill>
                <a:srgbClr val="000000"/>
              </a:solidFill>
              <a:latin typeface="Arial"/>
              <a:ea typeface="Arial"/>
              <a:cs typeface="Arial"/>
              <a:sym typeface="Arial"/>
            </a:endParaRPr>
          </a:p>
        </p:txBody>
      </p:sp>
      <p:sp>
        <p:nvSpPr>
          <p:cNvPr id="93" name="Google Shape;93;p2"/>
          <p:cNvSpPr txBox="1"/>
          <p:nvPr/>
        </p:nvSpPr>
        <p:spPr>
          <a:xfrm>
            <a:off x="4155540" y="2516863"/>
            <a:ext cx="4128380" cy="1684564"/>
          </a:xfrm>
          <a:prstGeom prst="rect">
            <a:avLst/>
          </a:prstGeom>
          <a:noFill/>
          <a:ln>
            <a:noFill/>
          </a:ln>
        </p:spPr>
        <p:txBody>
          <a:bodyPr anchorCtr="0" anchor="t" bIns="45700" lIns="91425" spcFirstLastPara="1" rIns="91425" wrap="square" tIns="45700">
            <a:spAutoFit/>
          </a:bodyPr>
          <a:lstStyle/>
          <a:p>
            <a:pPr indent="-342900" lvl="0" marL="342900" marR="0" rtl="0" algn="l">
              <a:lnSpc>
                <a:spcPct val="200000"/>
              </a:lnSpc>
              <a:spcBef>
                <a:spcPts val="0"/>
              </a:spcBef>
              <a:spcAft>
                <a:spcPts val="0"/>
              </a:spcAft>
              <a:buClr>
                <a:srgbClr val="1F7A80"/>
              </a:buClr>
              <a:buSzPts val="2800"/>
              <a:buFont typeface="Times New Roman"/>
              <a:buAutoNum type="arabicPeriod"/>
            </a:pPr>
            <a:r>
              <a:rPr b="1" i="0" lang="en-US" sz="2800" u="none" cap="none" strike="noStrike">
                <a:solidFill>
                  <a:srgbClr val="1F7A80"/>
                </a:solidFill>
                <a:latin typeface="Times New Roman"/>
                <a:ea typeface="Times New Roman"/>
                <a:cs typeface="Times New Roman"/>
                <a:sym typeface="Times New Roman"/>
              </a:rPr>
              <a:t>BỔ SUNG MỚI</a:t>
            </a:r>
            <a:endParaRPr b="0" i="0" sz="1400" u="none" cap="none" strike="noStrike">
              <a:solidFill>
                <a:srgbClr val="000000"/>
              </a:solidFill>
              <a:latin typeface="Arial"/>
              <a:ea typeface="Arial"/>
              <a:cs typeface="Arial"/>
              <a:sym typeface="Arial"/>
            </a:endParaRPr>
          </a:p>
          <a:p>
            <a:pPr indent="-342900" lvl="0" marL="342900" marR="0" rtl="0" algn="l">
              <a:lnSpc>
                <a:spcPct val="200000"/>
              </a:lnSpc>
              <a:spcBef>
                <a:spcPts val="0"/>
              </a:spcBef>
              <a:spcAft>
                <a:spcPts val="0"/>
              </a:spcAft>
              <a:buClr>
                <a:srgbClr val="C0E4F5"/>
              </a:buClr>
              <a:buSzPts val="2800"/>
              <a:buFont typeface="Times New Roman"/>
              <a:buAutoNum type="arabicPeriod"/>
            </a:pPr>
            <a:r>
              <a:rPr b="1" i="0" lang="en-US" sz="2800" u="none" cap="none" strike="noStrike">
                <a:solidFill>
                  <a:srgbClr val="C0E4F5"/>
                </a:solidFill>
                <a:latin typeface="Times New Roman"/>
                <a:ea typeface="Times New Roman"/>
                <a:cs typeface="Times New Roman"/>
                <a:sym typeface="Times New Roman"/>
              </a:rPr>
              <a:t>HIỆU CHỈNH</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p:nvPr/>
        </p:nvSpPr>
        <p:spPr>
          <a:xfrm>
            <a:off x="7743515" y="1657438"/>
            <a:ext cx="2251512" cy="5032156"/>
          </a:xfrm>
          <a:prstGeom prst="rect">
            <a:avLst/>
          </a:prstGeom>
          <a:solidFill>
            <a:srgbClr val="1F7A80"/>
          </a:solidFill>
          <a:ln cap="flat" cmpd="sng" w="19050">
            <a:solidFill>
              <a:srgbClr val="082836"/>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9" name="Google Shape;99;p3"/>
          <p:cNvSpPr txBox="1"/>
          <p:nvPr>
            <p:ph type="ctrTitle"/>
          </p:nvPr>
        </p:nvSpPr>
        <p:spPr>
          <a:xfrm>
            <a:off x="1342930" y="268525"/>
            <a:ext cx="10245506" cy="446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70C0"/>
              </a:buClr>
              <a:buSzPts val="2400"/>
              <a:buFont typeface="Times New Roman"/>
              <a:buNone/>
            </a:pPr>
            <a:r>
              <a:rPr b="1" lang="en-US" sz="2400">
                <a:solidFill>
                  <a:srgbClr val="0070C0"/>
                </a:solidFill>
                <a:latin typeface="Times New Roman"/>
                <a:ea typeface="Times New Roman"/>
                <a:cs typeface="Times New Roman"/>
                <a:sym typeface="Times New Roman"/>
              </a:rPr>
              <a:t>MÀN HÌNH TỔNG QUAN/BÀI VIẾT</a:t>
            </a:r>
            <a:endParaRPr/>
          </a:p>
        </p:txBody>
      </p:sp>
      <p:pic>
        <p:nvPicPr>
          <p:cNvPr descr="A logo with a group of people&#10;&#10;AI-generated content may be incorrect." id="100" name="Google Shape;100;p3"/>
          <p:cNvPicPr preferRelativeResize="0"/>
          <p:nvPr/>
        </p:nvPicPr>
        <p:blipFill rotWithShape="1">
          <a:blip r:embed="rId3">
            <a:alphaModFix/>
          </a:blip>
          <a:srcRect b="11595" l="7194" r="9995" t="15195"/>
          <a:stretch/>
        </p:blipFill>
        <p:spPr>
          <a:xfrm>
            <a:off x="0" y="65757"/>
            <a:ext cx="964005" cy="852236"/>
          </a:xfrm>
          <a:prstGeom prst="rect">
            <a:avLst/>
          </a:prstGeom>
          <a:noFill/>
          <a:ln>
            <a:noFill/>
          </a:ln>
        </p:spPr>
      </p:pic>
      <p:sp>
        <p:nvSpPr>
          <p:cNvPr id="101" name="Google Shape;101;p3"/>
          <p:cNvSpPr txBox="1"/>
          <p:nvPr/>
        </p:nvSpPr>
        <p:spPr>
          <a:xfrm>
            <a:off x="755775" y="917993"/>
            <a:ext cx="11013730" cy="92333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Vấn đề: Người dùng không biết phải đánh giá đầy đủ 5 chỉ số,</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Giải pháp: Hiện lên đồ thị Rada ngay cả khi chưa hoặc thiếu data của 1 hay nhiều chỉ số đánh giá.</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Mục “Bài viết” chuyển qua Tiện ích với tên: “Kiến thức chăm con”</a:t>
            </a:r>
            <a:endParaRPr b="0" i="0" sz="1400" u="none" cap="none" strike="noStrike">
              <a:solidFill>
                <a:srgbClr val="000000"/>
              </a:solidFill>
              <a:latin typeface="Arial"/>
              <a:ea typeface="Arial"/>
              <a:cs typeface="Arial"/>
              <a:sym typeface="Arial"/>
            </a:endParaRPr>
          </a:p>
        </p:txBody>
      </p:sp>
      <p:pic>
        <p:nvPicPr>
          <p:cNvPr descr="A screenshot of a chat&#10;&#10;AI-generated content may be incorrect." id="102" name="Google Shape;102;p3"/>
          <p:cNvPicPr preferRelativeResize="0"/>
          <p:nvPr/>
        </p:nvPicPr>
        <p:blipFill rotWithShape="1">
          <a:blip r:embed="rId4">
            <a:alphaModFix/>
          </a:blip>
          <a:srcRect b="0" l="0" r="0" t="0"/>
          <a:stretch/>
        </p:blipFill>
        <p:spPr>
          <a:xfrm>
            <a:off x="2269103" y="1808299"/>
            <a:ext cx="2251511" cy="4881295"/>
          </a:xfrm>
          <a:prstGeom prst="rect">
            <a:avLst/>
          </a:prstGeom>
          <a:noFill/>
          <a:ln>
            <a:noFill/>
          </a:ln>
        </p:spPr>
      </p:pic>
      <p:sp>
        <p:nvSpPr>
          <p:cNvPr id="103" name="Google Shape;103;p3"/>
          <p:cNvSpPr/>
          <p:nvPr/>
        </p:nvSpPr>
        <p:spPr>
          <a:xfrm>
            <a:off x="5588856" y="3546432"/>
            <a:ext cx="1086416" cy="434566"/>
          </a:xfrm>
          <a:prstGeom prst="rightArrow">
            <a:avLst>
              <a:gd fmla="val 50000" name="adj1"/>
              <a:gd fmla="val 50000" name="adj2"/>
            </a:avLst>
          </a:prstGeom>
          <a:solidFill>
            <a:schemeClr val="accent1"/>
          </a:solidFill>
          <a:ln cap="flat" cmpd="sng" w="19050">
            <a:solidFill>
              <a:srgbClr val="082836"/>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 screenshot of a cellphone&#10;&#10;AI-generated content may be incorrect." id="104" name="Google Shape;104;p3"/>
          <p:cNvPicPr preferRelativeResize="0"/>
          <p:nvPr/>
        </p:nvPicPr>
        <p:blipFill rotWithShape="1">
          <a:blip r:embed="rId5">
            <a:alphaModFix/>
          </a:blip>
          <a:srcRect b="0" l="0" r="0" t="0"/>
          <a:stretch/>
        </p:blipFill>
        <p:spPr>
          <a:xfrm>
            <a:off x="7743514" y="1657438"/>
            <a:ext cx="2251512" cy="3418311"/>
          </a:xfrm>
          <a:prstGeom prst="rect">
            <a:avLst/>
          </a:prstGeom>
          <a:noFill/>
          <a:ln>
            <a:noFill/>
          </a:ln>
        </p:spPr>
      </p:pic>
      <p:sp>
        <p:nvSpPr>
          <p:cNvPr id="105" name="Google Shape;105;p3"/>
          <p:cNvSpPr/>
          <p:nvPr/>
        </p:nvSpPr>
        <p:spPr>
          <a:xfrm>
            <a:off x="8682274" y="6120673"/>
            <a:ext cx="1312753" cy="568921"/>
          </a:xfrm>
          <a:prstGeom prst="rightArrow">
            <a:avLst>
              <a:gd fmla="val 50000" name="adj1"/>
              <a:gd fmla="val 50000" name="adj2"/>
            </a:avLst>
          </a:prstGeom>
          <a:solidFill>
            <a:srgbClr val="00B0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AI phân tích</a:t>
            </a:r>
            <a:endParaRPr b="0" i="0" sz="1400" u="none" cap="none" strike="noStrike">
              <a:solidFill>
                <a:srgbClr val="000000"/>
              </a:solidFill>
              <a:latin typeface="Arial"/>
              <a:ea typeface="Arial"/>
              <a:cs typeface="Arial"/>
              <a:sym typeface="Arial"/>
            </a:endParaRPr>
          </a:p>
        </p:txBody>
      </p:sp>
      <p:sp>
        <p:nvSpPr>
          <p:cNvPr id="106" name="Google Shape;106;p3"/>
          <p:cNvSpPr txBox="1"/>
          <p:nvPr/>
        </p:nvSpPr>
        <p:spPr>
          <a:xfrm>
            <a:off x="7840301" y="5232903"/>
            <a:ext cx="200986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Điểm bình quân: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5"/>
          <p:cNvSpPr txBox="1"/>
          <p:nvPr>
            <p:ph type="ctrTitle"/>
          </p:nvPr>
        </p:nvSpPr>
        <p:spPr>
          <a:xfrm>
            <a:off x="1342930" y="268525"/>
            <a:ext cx="10245506" cy="446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70C0"/>
              </a:buClr>
              <a:buSzPts val="2400"/>
              <a:buFont typeface="Times New Roman"/>
              <a:buNone/>
            </a:pPr>
            <a:r>
              <a:rPr b="1" lang="en-US" sz="2400">
                <a:solidFill>
                  <a:srgbClr val="0070C0"/>
                </a:solidFill>
                <a:latin typeface="Times New Roman"/>
                <a:ea typeface="Times New Roman"/>
                <a:cs typeface="Times New Roman"/>
                <a:sym typeface="Times New Roman"/>
              </a:rPr>
              <a:t>NGƯỜI DÙNG KIẾM TIỀN CÙNG CHĂM CON 360</a:t>
            </a:r>
            <a:endParaRPr/>
          </a:p>
        </p:txBody>
      </p:sp>
      <p:pic>
        <p:nvPicPr>
          <p:cNvPr descr="A logo with a group of people&#10;&#10;AI-generated content may be incorrect." id="112" name="Google Shape;112;p5"/>
          <p:cNvPicPr preferRelativeResize="0"/>
          <p:nvPr/>
        </p:nvPicPr>
        <p:blipFill rotWithShape="1">
          <a:blip r:embed="rId4">
            <a:alphaModFix/>
          </a:blip>
          <a:srcRect b="11595" l="7194" r="9995" t="15195"/>
          <a:stretch/>
        </p:blipFill>
        <p:spPr>
          <a:xfrm>
            <a:off x="0" y="65757"/>
            <a:ext cx="964005" cy="852236"/>
          </a:xfrm>
          <a:prstGeom prst="rect">
            <a:avLst/>
          </a:prstGeom>
          <a:noFill/>
          <a:ln>
            <a:noFill/>
          </a:ln>
        </p:spPr>
      </p:pic>
      <p:sp>
        <p:nvSpPr>
          <p:cNvPr id="113" name="Google Shape;113;p5"/>
          <p:cNvSpPr txBox="1"/>
          <p:nvPr/>
        </p:nvSpPr>
        <p:spPr>
          <a:xfrm>
            <a:off x="606582" y="1330859"/>
            <a:ext cx="10735800" cy="36327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Thiết lập hệ thống affiliate để người dùng chia sẻ việc cài app và bán gói thuê bao app</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Hệ thống tích hợp vào app, người dùng đăng ký xong có thể dùng link để chia sẻ</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Trả tiền xxx/lần đăng ký User và y% hoa hồng cho User đăng ký gói</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Thành viên có thể xem Dashboard Performance của mình qua app, xem số tiền kiếm được và yêu cầu rút tiền(chuyển tiền thủ công bên ngoài, không chuyển khoản online).</a:t>
            </a:r>
            <a:endParaRPr b="0" i="0" sz="2000" u="none" cap="none" strike="noStrike">
              <a:solidFill>
                <a:schemeClr val="dk1"/>
              </a:solidFill>
              <a:latin typeface="Times New Roman"/>
              <a:ea typeface="Times New Roman"/>
              <a:cs typeface="Times New Roman"/>
              <a:sym typeface="Times New Roman"/>
            </a:endParaRPr>
          </a:p>
          <a:p>
            <a:pPr indent="-285750" lvl="0" marL="285750" marR="0" rtl="0" algn="l">
              <a:lnSpc>
                <a:spcPct val="150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Khi rút tiền cung cấp ảnh CCCD, MST cá nhân</a:t>
            </a:r>
            <a:endParaRPr sz="2000">
              <a:solidFill>
                <a:schemeClr val="dk1"/>
              </a:solidFill>
              <a:latin typeface="Times New Roman"/>
              <a:ea typeface="Times New Roman"/>
              <a:cs typeface="Times New Roman"/>
              <a:sym typeface="Times New Roman"/>
            </a:endParaRPr>
          </a:p>
          <a:p>
            <a:pPr indent="-285750" lvl="0" marL="285750" marR="0" rtl="0" algn="l">
              <a:lnSpc>
                <a:spcPct val="150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APP sẽ giữ 10% thu nhập để nộp thuế thu nhập bất thường cho nhà nước, trừ khi rút.</a:t>
            </a:r>
            <a:endParaRPr sz="2000">
              <a:solidFill>
                <a:schemeClr val="dk1"/>
              </a:solidFill>
              <a:latin typeface="Times New Roman"/>
              <a:ea typeface="Times New Roman"/>
              <a:cs typeface="Times New Roman"/>
              <a:sym typeface="Times New Roman"/>
            </a:endParaRPr>
          </a:p>
          <a:p>
            <a:pPr indent="-285750" lvl="0" marL="285750" marR="0" rtl="0" algn="l">
              <a:lnSpc>
                <a:spcPct val="150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Tránh gian lận: chỉ tính User đăng ký mới Có Tạo hồ sơ con, lưu IP để check khi nghi ngờ gian lận</a:t>
            </a:r>
            <a:endParaRPr sz="2000">
              <a:solidFill>
                <a:schemeClr val="dk1"/>
              </a:solidFill>
              <a:latin typeface="Times New Roman"/>
              <a:ea typeface="Times New Roman"/>
              <a:cs typeface="Times New Roman"/>
              <a:sym typeface="Times New Roman"/>
            </a:endParaRPr>
          </a:p>
        </p:txBody>
      </p:sp>
      <p:sp>
        <p:nvSpPr>
          <p:cNvPr id="114" name="Google Shape;114;p5"/>
          <p:cNvSpPr txBox="1"/>
          <p:nvPr/>
        </p:nvSpPr>
        <p:spPr>
          <a:xfrm>
            <a:off x="7965822" y="5054456"/>
            <a:ext cx="3277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Xem nội dung file word bên dưới</a:t>
            </a:r>
            <a:endParaRPr b="0" i="0" sz="1400" u="none" cap="none" strike="noStrike">
              <a:solidFill>
                <a:srgbClr val="000000"/>
              </a:solidFill>
              <a:latin typeface="Arial"/>
              <a:ea typeface="Arial"/>
              <a:cs typeface="Arial"/>
              <a:sym typeface="Arial"/>
            </a:endParaRPr>
          </a:p>
        </p:txBody>
      </p:sp>
      <p:graphicFrame>
        <p:nvGraphicFramePr>
          <p:cNvPr id="115" name="Google Shape;115;p5"/>
          <p:cNvGraphicFramePr/>
          <p:nvPr/>
        </p:nvGraphicFramePr>
        <p:xfrm>
          <a:off x="9046013" y="5514678"/>
          <a:ext cx="1341422" cy="1131824"/>
        </p:xfrm>
        <a:graphic>
          <a:graphicData uri="http://schemas.openxmlformats.org/presentationml/2006/ole">
            <mc:AlternateContent>
              <mc:Choice Requires="v">
                <p:oleObj r:id="rId5" imgH="1131824" imgW="1341422" progId="Word.Document.12" spid="_x0000_s1">
                  <p:embed/>
                </p:oleObj>
              </mc:Choice>
              <mc:Fallback>
                <p:oleObj r:id="rId6" imgH="1131824" imgW="1341422" progId="Word.Document.12">
                  <p:embed/>
                  <p:pic>
                    <p:nvPicPr>
                      <p:cNvPr id="115" name="Google Shape;115;p5"/>
                      <p:cNvPicPr preferRelativeResize="0"/>
                      <p:nvPr/>
                    </p:nvPicPr>
                    <p:blipFill rotWithShape="1">
                      <a:blip r:embed="rId7">
                        <a:alphaModFix/>
                      </a:blip>
                      <a:srcRect b="0" l="0" r="0" t="0"/>
                      <a:stretch/>
                    </p:blipFill>
                    <p:spPr>
                      <a:xfrm>
                        <a:off x="9046013" y="5514678"/>
                        <a:ext cx="1341422" cy="1131824"/>
                      </a:xfrm>
                      <a:prstGeom prst="rect">
                        <a:avLst/>
                      </a:prstGeom>
                      <a:noFill/>
                      <a:ln>
                        <a:noFill/>
                      </a:ln>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6"/>
          <p:cNvSpPr txBox="1"/>
          <p:nvPr>
            <p:ph type="ctrTitle"/>
          </p:nvPr>
        </p:nvSpPr>
        <p:spPr>
          <a:xfrm>
            <a:off x="1342930" y="268525"/>
            <a:ext cx="10245506" cy="446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70C0"/>
              </a:buClr>
              <a:buSzPts val="2400"/>
              <a:buFont typeface="Times New Roman"/>
              <a:buNone/>
            </a:pPr>
            <a:r>
              <a:rPr b="1" lang="en-US" sz="2400">
                <a:solidFill>
                  <a:srgbClr val="0070C0"/>
                </a:solidFill>
                <a:latin typeface="Times New Roman"/>
                <a:ea typeface="Times New Roman"/>
                <a:cs typeface="Times New Roman"/>
                <a:sym typeface="Times New Roman"/>
              </a:rPr>
              <a:t>PHÂN HẠNG BỐ MẸ</a:t>
            </a:r>
            <a:endParaRPr/>
          </a:p>
        </p:txBody>
      </p:sp>
      <p:pic>
        <p:nvPicPr>
          <p:cNvPr descr="A logo with a group of people&#10;&#10;AI-generated content may be incorrect." id="121" name="Google Shape;121;p6"/>
          <p:cNvPicPr preferRelativeResize="0"/>
          <p:nvPr/>
        </p:nvPicPr>
        <p:blipFill rotWithShape="1">
          <a:blip r:embed="rId4">
            <a:alphaModFix/>
          </a:blip>
          <a:srcRect b="11595" l="7194" r="9995" t="15195"/>
          <a:stretch/>
        </p:blipFill>
        <p:spPr>
          <a:xfrm>
            <a:off x="0" y="65757"/>
            <a:ext cx="964005" cy="852236"/>
          </a:xfrm>
          <a:prstGeom prst="rect">
            <a:avLst/>
          </a:prstGeom>
          <a:noFill/>
          <a:ln>
            <a:noFill/>
          </a:ln>
        </p:spPr>
      </p:pic>
      <p:sp>
        <p:nvSpPr>
          <p:cNvPr id="122" name="Google Shape;122;p6"/>
          <p:cNvSpPr txBox="1"/>
          <p:nvPr/>
        </p:nvSpPr>
        <p:spPr>
          <a:xfrm>
            <a:off x="606583" y="1330859"/>
            <a:ext cx="7731660" cy="1883657"/>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Đánh giá người dùng theo từng hạng thành viên qua các tiêu chí:</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	+ Thời gian/số lần sử dụng trong 1 tháng</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	+ Số bài đánh giá đã thực hiện cho con</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	+ Điểm của con</a:t>
            </a:r>
            <a:endParaRPr b="0" i="0" sz="1400" u="none" cap="none" strike="noStrike">
              <a:solidFill>
                <a:srgbClr val="000000"/>
              </a:solidFill>
              <a:latin typeface="Arial"/>
              <a:ea typeface="Arial"/>
              <a:cs typeface="Arial"/>
              <a:sym typeface="Arial"/>
            </a:endParaRPr>
          </a:p>
        </p:txBody>
      </p:sp>
      <p:sp>
        <p:nvSpPr>
          <p:cNvPr id="123" name="Google Shape;123;p6"/>
          <p:cNvSpPr txBox="1"/>
          <p:nvPr/>
        </p:nvSpPr>
        <p:spPr>
          <a:xfrm>
            <a:off x="6273297" y="4517643"/>
            <a:ext cx="327735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Xem nội dung file word bên dưới</a:t>
            </a:r>
            <a:endParaRPr b="0" i="0" sz="1400" u="none" cap="none" strike="noStrike">
              <a:solidFill>
                <a:srgbClr val="000000"/>
              </a:solidFill>
              <a:latin typeface="Arial"/>
              <a:ea typeface="Arial"/>
              <a:cs typeface="Arial"/>
              <a:sym typeface="Arial"/>
            </a:endParaRPr>
          </a:p>
        </p:txBody>
      </p:sp>
      <p:graphicFrame>
        <p:nvGraphicFramePr>
          <p:cNvPr id="124" name="Google Shape;124;p6"/>
          <p:cNvGraphicFramePr/>
          <p:nvPr/>
        </p:nvGraphicFramePr>
        <p:xfrm>
          <a:off x="7567188" y="5069626"/>
          <a:ext cx="914400" cy="771525"/>
        </p:xfrm>
        <a:graphic>
          <a:graphicData uri="http://schemas.openxmlformats.org/presentationml/2006/ole">
            <mc:AlternateContent>
              <mc:Choice Requires="v">
                <p:oleObj r:id="rId5" imgH="771525" imgW="914400" progId="Word.Document.12" spid="_x0000_s1">
                  <p:embed/>
                </p:oleObj>
              </mc:Choice>
              <mc:Fallback>
                <p:oleObj r:id="rId6" imgH="771525" imgW="914400" progId="Word.Document.12">
                  <p:embed/>
                  <p:pic>
                    <p:nvPicPr>
                      <p:cNvPr id="124" name="Google Shape;124;p6"/>
                      <p:cNvPicPr preferRelativeResize="0"/>
                      <p:nvPr/>
                    </p:nvPicPr>
                    <p:blipFill rotWithShape="1">
                      <a:blip r:embed="rId7">
                        <a:alphaModFix/>
                      </a:blip>
                      <a:srcRect b="0" l="0" r="0" t="0"/>
                      <a:stretch/>
                    </p:blipFill>
                    <p:spPr>
                      <a:xfrm>
                        <a:off x="7567188" y="5069626"/>
                        <a:ext cx="914400" cy="771525"/>
                      </a:xfrm>
                      <a:prstGeom prst="rect">
                        <a:avLst/>
                      </a:prstGeom>
                      <a:noFill/>
                      <a:ln>
                        <a:noFill/>
                      </a:ln>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7"/>
          <p:cNvSpPr txBox="1"/>
          <p:nvPr>
            <p:ph type="ctrTitle"/>
          </p:nvPr>
        </p:nvSpPr>
        <p:spPr>
          <a:xfrm>
            <a:off x="1342930" y="268525"/>
            <a:ext cx="10245506" cy="446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70C0"/>
              </a:buClr>
              <a:buSzPts val="2400"/>
              <a:buFont typeface="Times New Roman"/>
              <a:buNone/>
            </a:pPr>
            <a:r>
              <a:rPr b="1" lang="en-US" sz="2400">
                <a:solidFill>
                  <a:srgbClr val="0070C0"/>
                </a:solidFill>
                <a:latin typeface="Times New Roman"/>
                <a:ea typeface="Times New Roman"/>
                <a:cs typeface="Times New Roman"/>
                <a:sym typeface="Times New Roman"/>
              </a:rPr>
              <a:t>PHÁC ĐỒ CHIỀU CAO</a:t>
            </a:r>
            <a:endParaRPr/>
          </a:p>
        </p:txBody>
      </p:sp>
      <p:pic>
        <p:nvPicPr>
          <p:cNvPr descr="A logo with a group of people&#10;&#10;AI-generated content may be incorrect." id="130" name="Google Shape;130;p7"/>
          <p:cNvPicPr preferRelativeResize="0"/>
          <p:nvPr/>
        </p:nvPicPr>
        <p:blipFill rotWithShape="1">
          <a:blip r:embed="rId4">
            <a:alphaModFix/>
          </a:blip>
          <a:srcRect b="11595" l="7194" r="9995" t="15195"/>
          <a:stretch/>
        </p:blipFill>
        <p:spPr>
          <a:xfrm>
            <a:off x="0" y="65757"/>
            <a:ext cx="964005" cy="852236"/>
          </a:xfrm>
          <a:prstGeom prst="rect">
            <a:avLst/>
          </a:prstGeom>
          <a:noFill/>
          <a:ln>
            <a:noFill/>
          </a:ln>
        </p:spPr>
      </p:pic>
      <p:pic>
        <p:nvPicPr>
          <p:cNvPr descr="A screenshot of a cell phone&#10;&#10;AI-generated content may be incorrect." id="131" name="Google Shape;131;p7"/>
          <p:cNvPicPr preferRelativeResize="0"/>
          <p:nvPr/>
        </p:nvPicPr>
        <p:blipFill rotWithShape="1">
          <a:blip r:embed="rId5">
            <a:alphaModFix/>
          </a:blip>
          <a:srcRect b="0" l="0" r="644" t="0"/>
          <a:stretch/>
        </p:blipFill>
        <p:spPr>
          <a:xfrm>
            <a:off x="1183504" y="917994"/>
            <a:ext cx="3641993" cy="4958426"/>
          </a:xfrm>
          <a:prstGeom prst="rect">
            <a:avLst/>
          </a:prstGeom>
          <a:noFill/>
          <a:ln>
            <a:noFill/>
          </a:ln>
        </p:spPr>
      </p:pic>
      <p:pic>
        <p:nvPicPr>
          <p:cNvPr descr="A graph on a blue background&#10;&#10;AI-generated content may be incorrect." id="132" name="Google Shape;132;p7"/>
          <p:cNvPicPr preferRelativeResize="0"/>
          <p:nvPr/>
        </p:nvPicPr>
        <p:blipFill rotWithShape="1">
          <a:blip r:embed="rId6">
            <a:alphaModFix/>
          </a:blip>
          <a:srcRect b="589" l="0" r="0" t="0"/>
          <a:stretch/>
        </p:blipFill>
        <p:spPr>
          <a:xfrm>
            <a:off x="5730843" y="917993"/>
            <a:ext cx="2980970" cy="4958428"/>
          </a:xfrm>
          <a:prstGeom prst="rect">
            <a:avLst/>
          </a:prstGeom>
          <a:noFill/>
          <a:ln>
            <a:noFill/>
          </a:ln>
        </p:spPr>
      </p:pic>
      <p:sp>
        <p:nvSpPr>
          <p:cNvPr id="133" name="Google Shape;133;p7"/>
          <p:cNvSpPr txBox="1"/>
          <p:nvPr/>
        </p:nvSpPr>
        <p:spPr>
          <a:xfrm>
            <a:off x="610827" y="5934600"/>
            <a:ext cx="11146800" cy="92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Chú ý: Dự đoán chiều cao 2 màn hình này phải giống nhau. Cho nên flow là: trước khi xem dự đoán phải nhập thời gian đã dậy thì. Sau đó user được xem 1 kết quả dự đoán miễn phí, muốn làm phác đồ chiều cao thì mở khóa mua gói, Khi unlock thì nhập Mục tiêu và xem phác đồ</a:t>
            </a:r>
            <a:endParaRPr b="0" i="0" sz="1400" u="none" cap="none" strike="noStrike">
              <a:solidFill>
                <a:srgbClr val="000000"/>
              </a:solidFill>
              <a:latin typeface="Arial"/>
              <a:ea typeface="Arial"/>
              <a:cs typeface="Arial"/>
              <a:sym typeface="Arial"/>
            </a:endParaRPr>
          </a:p>
        </p:txBody>
      </p:sp>
      <p:sp>
        <p:nvSpPr>
          <p:cNvPr id="134" name="Google Shape;134;p7"/>
          <p:cNvSpPr txBox="1"/>
          <p:nvPr/>
        </p:nvSpPr>
        <p:spPr>
          <a:xfrm>
            <a:off x="8711813" y="4378335"/>
            <a:ext cx="361006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Xem nội dung file Excel bên dưới</a:t>
            </a:r>
            <a:endParaRPr b="0" i="0" sz="1400" u="none" cap="none" strike="noStrike">
              <a:solidFill>
                <a:srgbClr val="000000"/>
              </a:solidFill>
              <a:latin typeface="Arial"/>
              <a:ea typeface="Arial"/>
              <a:cs typeface="Arial"/>
              <a:sym typeface="Arial"/>
            </a:endParaRPr>
          </a:p>
        </p:txBody>
      </p:sp>
      <p:graphicFrame>
        <p:nvGraphicFramePr>
          <p:cNvPr id="135" name="Google Shape;135;p7"/>
          <p:cNvGraphicFramePr/>
          <p:nvPr/>
        </p:nvGraphicFramePr>
        <p:xfrm>
          <a:off x="9848661" y="5104895"/>
          <a:ext cx="914400" cy="771525"/>
        </p:xfrm>
        <a:graphic>
          <a:graphicData uri="http://schemas.openxmlformats.org/presentationml/2006/ole">
            <mc:AlternateContent>
              <mc:Choice Requires="v">
                <p:oleObj r:id="rId7" imgH="771525" imgW="914400" progId="Excel.Sheet.12" spid="_x0000_s1">
                  <p:embed/>
                </p:oleObj>
              </mc:Choice>
              <mc:Fallback>
                <p:oleObj r:id="rId8" imgH="771525" imgW="914400" progId="Excel.Sheet.12">
                  <p:embed/>
                  <p:pic>
                    <p:nvPicPr>
                      <p:cNvPr id="135" name="Google Shape;135;p7"/>
                      <p:cNvPicPr preferRelativeResize="0"/>
                      <p:nvPr/>
                    </p:nvPicPr>
                    <p:blipFill rotWithShape="1">
                      <a:blip r:embed="rId9">
                        <a:alphaModFix/>
                      </a:blip>
                      <a:srcRect b="0" l="0" r="0" t="0"/>
                      <a:stretch/>
                    </p:blipFill>
                    <p:spPr>
                      <a:xfrm>
                        <a:off x="9848661" y="5104895"/>
                        <a:ext cx="914400" cy="771525"/>
                      </a:xfrm>
                      <a:prstGeom prst="rect">
                        <a:avLst/>
                      </a:prstGeom>
                      <a:noFill/>
                      <a:ln>
                        <a:noFill/>
                      </a:ln>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8"/>
          <p:cNvSpPr txBox="1"/>
          <p:nvPr>
            <p:ph type="ctrTitle"/>
          </p:nvPr>
        </p:nvSpPr>
        <p:spPr>
          <a:xfrm>
            <a:off x="1342930" y="268525"/>
            <a:ext cx="10245506" cy="446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70C0"/>
              </a:buClr>
              <a:buSzPts val="2400"/>
              <a:buFont typeface="Times New Roman"/>
              <a:buNone/>
            </a:pPr>
            <a:r>
              <a:rPr b="1" lang="en-US" sz="2400">
                <a:solidFill>
                  <a:srgbClr val="0070C0"/>
                </a:solidFill>
                <a:latin typeface="Times New Roman"/>
                <a:ea typeface="Times New Roman"/>
                <a:cs typeface="Times New Roman"/>
                <a:sym typeface="Times New Roman"/>
              </a:rPr>
              <a:t>GIÁO DỤC BẰNG VIDEO</a:t>
            </a:r>
            <a:endParaRPr/>
          </a:p>
        </p:txBody>
      </p:sp>
      <p:pic>
        <p:nvPicPr>
          <p:cNvPr descr="A logo with a group of people&#10;&#10;AI-generated content may be incorrect." id="141" name="Google Shape;141;p8"/>
          <p:cNvPicPr preferRelativeResize="0"/>
          <p:nvPr/>
        </p:nvPicPr>
        <p:blipFill rotWithShape="1">
          <a:blip r:embed="rId3">
            <a:alphaModFix/>
          </a:blip>
          <a:srcRect b="11595" l="7194" r="9995" t="15195"/>
          <a:stretch/>
        </p:blipFill>
        <p:spPr>
          <a:xfrm>
            <a:off x="36212" y="65757"/>
            <a:ext cx="964005" cy="852236"/>
          </a:xfrm>
          <a:prstGeom prst="rect">
            <a:avLst/>
          </a:prstGeom>
          <a:noFill/>
          <a:ln>
            <a:noFill/>
          </a:ln>
        </p:spPr>
      </p:pic>
      <p:pic>
        <p:nvPicPr>
          <p:cNvPr id="142" name="Google Shape;142;p8"/>
          <p:cNvPicPr preferRelativeResize="0"/>
          <p:nvPr/>
        </p:nvPicPr>
        <p:blipFill rotWithShape="1">
          <a:blip r:embed="rId4">
            <a:alphaModFix/>
          </a:blip>
          <a:srcRect b="0" l="0" r="0" t="0"/>
          <a:stretch/>
        </p:blipFill>
        <p:spPr>
          <a:xfrm>
            <a:off x="121278" y="1098171"/>
            <a:ext cx="2643614" cy="5491304"/>
          </a:xfrm>
          <a:prstGeom prst="rect">
            <a:avLst/>
          </a:prstGeom>
          <a:noFill/>
          <a:ln cap="flat" cmpd="sng" w="9525">
            <a:solidFill>
              <a:schemeClr val="dk1"/>
            </a:solidFill>
            <a:prstDash val="solid"/>
            <a:round/>
            <a:headEnd len="sm" w="sm" type="none"/>
            <a:tailEnd len="sm" w="sm" type="none"/>
          </a:ln>
        </p:spPr>
      </p:pic>
      <p:sp>
        <p:nvSpPr>
          <p:cNvPr id="143" name="Google Shape;143;p8"/>
          <p:cNvSpPr txBox="1"/>
          <p:nvPr/>
        </p:nvSpPr>
        <p:spPr>
          <a:xfrm>
            <a:off x="4961299" y="1695699"/>
            <a:ext cx="4744015" cy="4524315"/>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Thêm nội dung Giáo dục:</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Bằng Video</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Unlock dành cho User thuê bao, </a:t>
            </a:r>
            <a:r>
              <a:rPr b="0" i="0" lang="en-US" sz="1800" u="none" cap="none" strike="noStrike">
                <a:solidFill>
                  <a:srgbClr val="FF0000"/>
                </a:solidFill>
                <a:latin typeface="Arial"/>
                <a:ea typeface="Arial"/>
                <a:cs typeface="Arial"/>
                <a:sym typeface="Arial"/>
              </a:rPr>
              <a:t>user chưa mua gói có thể cho xem 1 vài video nhất định (admin có thể mở tùy ý trên CMS)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FF0000"/>
              </a:buClr>
              <a:buSzPts val="1800"/>
              <a:buFont typeface="Arial"/>
              <a:buChar char="-"/>
            </a:pPr>
            <a:r>
              <a:rPr b="0" i="0" lang="en-US" sz="1800" u="none" cap="none" strike="noStrike">
                <a:solidFill>
                  <a:srgbClr val="FF0000"/>
                </a:solidFill>
                <a:latin typeface="Arial"/>
                <a:ea typeface="Arial"/>
                <a:cs typeface="Arial"/>
                <a:sym typeface="Arial"/>
              </a:rPr>
              <a:t>Chỉ xem các video trong phạm 3 nhóm tuổi gần nhất(VD: trẻ 5 tuổi thì xem video nhóm tuổi 2-4,4-6,6-8)</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Sắp xếp theo độ tuổi</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Sau khi chọn tuổi sẽ theo chủ đề lớn như: Thể chất, IQ, EQ, AQ</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Mỗi Video gắn thêm loại(sub cat),(Chủ đề IQ có nhiều loại bao gồm: Ngôn ngữ, Trí Nhớ, Hình ảnh, toán Logics, tương tự EQ, AQ, PQ</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Tham khảo app BabyG</a:t>
            </a:r>
            <a:endParaRPr b="0" i="0" sz="1400" u="none" cap="none" strike="noStrike">
              <a:solidFill>
                <a:srgbClr val="000000"/>
              </a:solidFill>
              <a:latin typeface="Arial"/>
              <a:ea typeface="Arial"/>
              <a:cs typeface="Arial"/>
              <a:sym typeface="Arial"/>
            </a:endParaRPr>
          </a:p>
        </p:txBody>
      </p:sp>
      <p:sp>
        <p:nvSpPr>
          <p:cNvPr id="144" name="Google Shape;144;p8"/>
          <p:cNvSpPr/>
          <p:nvPr/>
        </p:nvSpPr>
        <p:spPr>
          <a:xfrm>
            <a:off x="36212" y="3793402"/>
            <a:ext cx="2805631" cy="852236"/>
          </a:xfrm>
          <a:prstGeom prst="rect">
            <a:avLst/>
          </a:prstGeom>
          <a:noFill/>
          <a:ln cap="flat" cmpd="sng" w="19050">
            <a:solidFill>
              <a:srgbClr val="FF000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9"/>
          <p:cNvSpPr/>
          <p:nvPr/>
        </p:nvSpPr>
        <p:spPr>
          <a:xfrm>
            <a:off x="7553681" y="827579"/>
            <a:ext cx="3054014" cy="1896098"/>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50" name="Google Shape;150;p9"/>
          <p:cNvSpPr txBox="1"/>
          <p:nvPr>
            <p:ph type="ctrTitle"/>
          </p:nvPr>
        </p:nvSpPr>
        <p:spPr>
          <a:xfrm>
            <a:off x="1342930" y="268525"/>
            <a:ext cx="10245506" cy="446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70C0"/>
              </a:buClr>
              <a:buSzPts val="2400"/>
              <a:buFont typeface="Times New Roman"/>
              <a:buNone/>
            </a:pPr>
            <a:r>
              <a:rPr b="1" lang="en-US" sz="2400">
                <a:solidFill>
                  <a:srgbClr val="0070C0"/>
                </a:solidFill>
                <a:latin typeface="Times New Roman"/>
                <a:ea typeface="Times New Roman"/>
                <a:cs typeface="Times New Roman"/>
                <a:sym typeface="Times New Roman"/>
              </a:rPr>
              <a:t>GIÁO DỤC BẰNG VIDEO</a:t>
            </a:r>
            <a:endParaRPr/>
          </a:p>
        </p:txBody>
      </p:sp>
      <p:pic>
        <p:nvPicPr>
          <p:cNvPr descr="A logo with a group of people&#10;&#10;AI-generated content may be incorrect." id="151" name="Google Shape;151;p9"/>
          <p:cNvPicPr preferRelativeResize="0"/>
          <p:nvPr/>
        </p:nvPicPr>
        <p:blipFill rotWithShape="1">
          <a:blip r:embed="rId3">
            <a:alphaModFix/>
          </a:blip>
          <a:srcRect b="11595" l="7194" r="9995" t="15195"/>
          <a:stretch/>
        </p:blipFill>
        <p:spPr>
          <a:xfrm>
            <a:off x="36212" y="65757"/>
            <a:ext cx="964005" cy="852236"/>
          </a:xfrm>
          <a:prstGeom prst="rect">
            <a:avLst/>
          </a:prstGeom>
          <a:noFill/>
          <a:ln>
            <a:noFill/>
          </a:ln>
        </p:spPr>
      </p:pic>
      <p:sp>
        <p:nvSpPr>
          <p:cNvPr id="152" name="Google Shape;152;p9"/>
          <p:cNvSpPr/>
          <p:nvPr/>
        </p:nvSpPr>
        <p:spPr>
          <a:xfrm>
            <a:off x="7530974" y="715225"/>
            <a:ext cx="3094827" cy="5966232"/>
          </a:xfrm>
          <a:prstGeom prst="roundRect">
            <a:avLst>
              <a:gd fmla="val 16667" name="adj"/>
            </a:avLst>
          </a:prstGeom>
          <a:noFill/>
          <a:ln cap="flat" cmpd="sng" w="9525">
            <a:solidFill>
              <a:srgbClr val="082836"/>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53" name="Google Shape;153;p9"/>
          <p:cNvSpPr txBox="1"/>
          <p:nvPr/>
        </p:nvSpPr>
        <p:spPr>
          <a:xfrm>
            <a:off x="7571788" y="2787950"/>
            <a:ext cx="889428" cy="523220"/>
          </a:xfrm>
          <a:prstGeom prst="rect">
            <a:avLst/>
          </a:prstGeom>
          <a:noFill/>
          <a:ln cap="flat" cmpd="sng" w="9525">
            <a:solidFill>
              <a:srgbClr val="1F7A8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Lượt tập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xxxxx</a:t>
            </a:r>
            <a:endParaRPr b="0" i="0" sz="1400" u="none" cap="none" strike="noStrike">
              <a:solidFill>
                <a:srgbClr val="000000"/>
              </a:solidFill>
              <a:latin typeface="Arial"/>
              <a:ea typeface="Arial"/>
              <a:cs typeface="Arial"/>
              <a:sym typeface="Arial"/>
            </a:endParaRPr>
          </a:p>
        </p:txBody>
      </p:sp>
      <p:sp>
        <p:nvSpPr>
          <p:cNvPr id="154" name="Google Shape;154;p9"/>
          <p:cNvSpPr txBox="1"/>
          <p:nvPr/>
        </p:nvSpPr>
        <p:spPr>
          <a:xfrm>
            <a:off x="8537418" y="2787048"/>
            <a:ext cx="2012180" cy="338554"/>
          </a:xfrm>
          <a:prstGeom prst="rect">
            <a:avLst/>
          </a:prstGeom>
          <a:noFill/>
          <a:ln cap="flat" cmpd="sng" w="9525">
            <a:solidFill>
              <a:srgbClr val="1F7A8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Khó  </a:t>
            </a:r>
            <a:r>
              <a:rPr b="0" i="0" lang="en-US" sz="1600" u="none" cap="none" strike="noStrike">
                <a:solidFill>
                  <a:schemeClr val="dk1"/>
                </a:solidFill>
                <a:highlight>
                  <a:srgbClr val="1F7A80"/>
                </a:highlight>
                <a:latin typeface="Arial"/>
                <a:ea typeface="Arial"/>
                <a:cs typeface="Arial"/>
                <a:sym typeface="Arial"/>
              </a:rPr>
              <a:t>Có Trợ giúp </a:t>
            </a:r>
            <a:r>
              <a:rPr b="0" i="0" lang="en-US" sz="1600" u="none" cap="none" strike="noStrike">
                <a:solidFill>
                  <a:schemeClr val="dk1"/>
                </a:solidFill>
                <a:latin typeface="Arial"/>
                <a:ea typeface="Arial"/>
                <a:cs typeface="Arial"/>
                <a:sym typeface="Arial"/>
              </a:rPr>
              <a:t>  Dễ</a:t>
            </a:r>
            <a:endParaRPr b="0" i="0" sz="1400" u="none" cap="none" strike="noStrike">
              <a:solidFill>
                <a:srgbClr val="000000"/>
              </a:solidFill>
              <a:latin typeface="Arial"/>
              <a:ea typeface="Arial"/>
              <a:cs typeface="Arial"/>
              <a:sym typeface="Arial"/>
            </a:endParaRPr>
          </a:p>
        </p:txBody>
      </p:sp>
      <p:sp>
        <p:nvSpPr>
          <p:cNvPr id="155" name="Google Shape;155;p9"/>
          <p:cNvSpPr txBox="1"/>
          <p:nvPr/>
        </p:nvSpPr>
        <p:spPr>
          <a:xfrm>
            <a:off x="7571787" y="3631256"/>
            <a:ext cx="3054014" cy="329320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Tên bài tập: ghghj</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Nội dung bài tập: fdjfdjsjs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Loại bài tập(sub): </a:t>
            </a:r>
            <a:r>
              <a:rPr b="0" i="0" lang="en-US" sz="1400" u="none" cap="none" strike="noStrike">
                <a:solidFill>
                  <a:schemeClr val="dk1"/>
                </a:solidFill>
                <a:latin typeface="Arial"/>
                <a:ea typeface="Arial"/>
                <a:cs typeface="Arial"/>
                <a:sym typeface="Arial"/>
              </a:rPr>
              <a:t>Nhận biết cảm xúc</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Tần suất</a:t>
            </a:r>
            <a:r>
              <a:rPr b="0" i="0" lang="en-US" sz="1800" u="none" cap="none" strike="noStrike">
                <a:solidFill>
                  <a:schemeClr val="dk1"/>
                </a:solidFill>
                <a:latin typeface="Arial"/>
                <a:ea typeface="Arial"/>
                <a:cs typeface="Arial"/>
                <a:sym typeface="Arial"/>
              </a:rPr>
              <a:t>: 3 lần/tuần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Lợi ích</a:t>
            </a:r>
            <a:r>
              <a:rPr b="0" i="0" lang="en-US" sz="1800" u="none" cap="none" strike="noStrike">
                <a:solidFill>
                  <a:schemeClr val="dk1"/>
                </a:solidFill>
                <a:latin typeface="Arial"/>
                <a:ea typeface="Arial"/>
                <a:cs typeface="Arial"/>
                <a:sym typeface="Arial"/>
              </a:rPr>
              <a:t>: </a:t>
            </a:r>
            <a:r>
              <a:rPr b="0" i="0" lang="en-US" sz="1400" u="none" cap="none" strike="noStrike">
                <a:solidFill>
                  <a:schemeClr val="dk1"/>
                </a:solidFill>
                <a:latin typeface="Arial"/>
                <a:ea typeface="Arial"/>
                <a:cs typeface="Arial"/>
                <a:sym typeface="Arial"/>
              </a:rPr>
              <a:t>adadfg</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Dụng cụ</a:t>
            </a:r>
            <a:r>
              <a:rPr b="0" i="0" lang="en-US" sz="1800" u="none" cap="none" strike="noStrike">
                <a:solidFill>
                  <a:schemeClr val="dk1"/>
                </a:solidFill>
                <a:latin typeface="Arial"/>
                <a:ea typeface="Arial"/>
                <a:cs typeface="Arial"/>
                <a:sym typeface="Arial"/>
              </a:rPr>
              <a:t>: </a:t>
            </a:r>
            <a:r>
              <a:rPr b="0" i="0" lang="en-US" sz="1400" u="none" cap="none" strike="noStrike">
                <a:solidFill>
                  <a:schemeClr val="dk1"/>
                </a:solidFill>
                <a:latin typeface="Arial"/>
                <a:ea typeface="Arial"/>
                <a:cs typeface="Arial"/>
                <a:sym typeface="Arial"/>
              </a:rPr>
              <a:t>hfskjdsk</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6" name="Google Shape;156;p9"/>
          <p:cNvSpPr/>
          <p:nvPr/>
        </p:nvSpPr>
        <p:spPr>
          <a:xfrm rot="5400000">
            <a:off x="8963810" y="1573761"/>
            <a:ext cx="421458" cy="423217"/>
          </a:xfrm>
          <a:prstGeom prst="triangle">
            <a:avLst>
              <a:gd fmla="val 50000" name="adj"/>
            </a:avLst>
          </a:prstGeom>
          <a:solidFill>
            <a:schemeClr val="accent1"/>
          </a:solidFill>
          <a:ln cap="flat" cmpd="sng" w="1905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157" name="Google Shape;157;p9"/>
          <p:cNvGrpSpPr/>
          <p:nvPr/>
        </p:nvGrpSpPr>
        <p:grpSpPr>
          <a:xfrm>
            <a:off x="1035606" y="715225"/>
            <a:ext cx="3238173" cy="5966232"/>
            <a:chOff x="1035606" y="715225"/>
            <a:chExt cx="3238173" cy="5966232"/>
          </a:xfrm>
        </p:grpSpPr>
        <p:grpSp>
          <p:nvGrpSpPr>
            <p:cNvPr id="158" name="Google Shape;158;p9"/>
            <p:cNvGrpSpPr/>
            <p:nvPr/>
          </p:nvGrpSpPr>
          <p:grpSpPr>
            <a:xfrm>
              <a:off x="1035606" y="715225"/>
              <a:ext cx="3094827" cy="5966232"/>
              <a:chOff x="3485584" y="715225"/>
              <a:chExt cx="3094827" cy="5966232"/>
            </a:xfrm>
          </p:grpSpPr>
          <p:pic>
            <p:nvPicPr>
              <p:cNvPr id="159" name="Google Shape;159;p9"/>
              <p:cNvPicPr preferRelativeResize="0"/>
              <p:nvPr/>
            </p:nvPicPr>
            <p:blipFill rotWithShape="1">
              <a:blip r:embed="rId4">
                <a:alphaModFix/>
              </a:blip>
              <a:srcRect b="6464" l="0" r="0" t="29433"/>
              <a:stretch/>
            </p:blipFill>
            <p:spPr>
              <a:xfrm>
                <a:off x="3502839" y="2231751"/>
                <a:ext cx="3014201" cy="4188654"/>
              </a:xfrm>
              <a:prstGeom prst="rect">
                <a:avLst/>
              </a:prstGeom>
              <a:noFill/>
              <a:ln>
                <a:noFill/>
              </a:ln>
            </p:spPr>
          </p:pic>
          <p:sp>
            <p:nvSpPr>
              <p:cNvPr id="160" name="Google Shape;160;p9"/>
              <p:cNvSpPr/>
              <p:nvPr/>
            </p:nvSpPr>
            <p:spPr>
              <a:xfrm>
                <a:off x="3485584" y="715225"/>
                <a:ext cx="3094827" cy="5966232"/>
              </a:xfrm>
              <a:prstGeom prst="roundRect">
                <a:avLst>
                  <a:gd fmla="val 16667" name="adj"/>
                </a:avLst>
              </a:prstGeom>
              <a:noFill/>
              <a:ln cap="flat" cmpd="sng" w="9525">
                <a:solidFill>
                  <a:srgbClr val="082836"/>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A screenshot of a phone&#10;&#10;AI-generated content may be incorrect." id="161" name="Google Shape;161;p9"/>
            <p:cNvPicPr preferRelativeResize="0"/>
            <p:nvPr/>
          </p:nvPicPr>
          <p:blipFill rotWithShape="1">
            <a:blip r:embed="rId5">
              <a:alphaModFix/>
            </a:blip>
            <a:srcRect b="0" l="0" r="0" t="0"/>
            <a:stretch/>
          </p:blipFill>
          <p:spPr>
            <a:xfrm>
              <a:off x="1197479" y="872844"/>
              <a:ext cx="3076300" cy="1358907"/>
            </a:xfrm>
            <a:prstGeom prst="roundRect">
              <a:avLst>
                <a:gd fmla="val 16667" name="adj"/>
              </a:avLst>
            </a:prstGeom>
            <a:noFill/>
            <a:ln>
              <a:noFill/>
            </a:ln>
          </p:spPr>
        </p:pic>
      </p:grpSp>
      <p:sp>
        <p:nvSpPr>
          <p:cNvPr id="162" name="Google Shape;162;p9"/>
          <p:cNvSpPr txBox="1"/>
          <p:nvPr/>
        </p:nvSpPr>
        <p:spPr>
          <a:xfrm>
            <a:off x="4165822" y="2679826"/>
            <a:ext cx="3221806" cy="2308324"/>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Video có thể xoay xem theo chiều ngang</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Khuyến nghị xem trên ipad</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Admin có thể thêm Video mà không cần upcode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0000"/>
                </a:solidFill>
                <a:latin typeface="Arial"/>
                <a:ea typeface="Arial"/>
                <a:cs typeface="Arial"/>
                <a:sym typeface="Arial"/>
              </a:rPr>
              <a:t>(Bổ sung THAI GIÁO trước 0-2 tuổi)</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3" name="Google Shape;163;p9"/>
          <p:cNvSpPr txBox="1"/>
          <p:nvPr/>
        </p:nvSpPr>
        <p:spPr>
          <a:xfrm>
            <a:off x="672399" y="968767"/>
            <a:ext cx="581797" cy="21369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Thai giáo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0"/>
          <p:cNvSpPr txBox="1"/>
          <p:nvPr>
            <p:ph type="ctrTitle"/>
          </p:nvPr>
        </p:nvSpPr>
        <p:spPr>
          <a:xfrm>
            <a:off x="1342930" y="268525"/>
            <a:ext cx="10245506" cy="446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70C0"/>
              </a:buClr>
              <a:buSzPts val="2400"/>
              <a:buFont typeface="Times New Roman"/>
              <a:buNone/>
            </a:pPr>
            <a:r>
              <a:rPr b="1" lang="en-US" sz="2400">
                <a:solidFill>
                  <a:srgbClr val="0070C0"/>
                </a:solidFill>
                <a:latin typeface="Times New Roman"/>
                <a:ea typeface="Times New Roman"/>
                <a:cs typeface="Times New Roman"/>
                <a:sym typeface="Times New Roman"/>
              </a:rPr>
              <a:t>THÊM MÀN HÌNH</a:t>
            </a:r>
            <a:endParaRPr/>
          </a:p>
        </p:txBody>
      </p:sp>
      <p:pic>
        <p:nvPicPr>
          <p:cNvPr descr="A logo with a group of people&#10;&#10;AI-generated content may be incorrect." id="169" name="Google Shape;169;p10"/>
          <p:cNvPicPr preferRelativeResize="0"/>
          <p:nvPr/>
        </p:nvPicPr>
        <p:blipFill rotWithShape="1">
          <a:blip r:embed="rId3">
            <a:alphaModFix/>
          </a:blip>
          <a:srcRect b="11595" l="7194" r="9995" t="15195"/>
          <a:stretch/>
        </p:blipFill>
        <p:spPr>
          <a:xfrm>
            <a:off x="0" y="65757"/>
            <a:ext cx="964005" cy="852236"/>
          </a:xfrm>
          <a:prstGeom prst="rect">
            <a:avLst/>
          </a:prstGeom>
          <a:noFill/>
          <a:ln>
            <a:noFill/>
          </a:ln>
        </p:spPr>
      </p:pic>
      <p:sp>
        <p:nvSpPr>
          <p:cNvPr id="170" name="Google Shape;170;p10"/>
          <p:cNvSpPr txBox="1"/>
          <p:nvPr/>
        </p:nvSpPr>
        <p:spPr>
          <a:xfrm>
            <a:off x="7840301" y="5232903"/>
            <a:ext cx="200986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Điểm bình quân:</a:t>
            </a:r>
            <a:endParaRPr b="0" i="0" sz="1400" u="none" cap="none" strike="noStrike">
              <a:solidFill>
                <a:srgbClr val="000000"/>
              </a:solidFill>
              <a:latin typeface="Arial"/>
              <a:ea typeface="Arial"/>
              <a:cs typeface="Arial"/>
              <a:sym typeface="Arial"/>
            </a:endParaRPr>
          </a:p>
        </p:txBody>
      </p:sp>
      <p:pic>
        <p:nvPicPr>
          <p:cNvPr descr="A screenshot of a phone&#10;&#10;AI-generated content may be incorrect." id="171" name="Google Shape;171;p10"/>
          <p:cNvPicPr preferRelativeResize="0"/>
          <p:nvPr/>
        </p:nvPicPr>
        <p:blipFill rotWithShape="1">
          <a:blip r:embed="rId4">
            <a:alphaModFix/>
          </a:blip>
          <a:srcRect b="7296" l="0" r="0" t="0"/>
          <a:stretch/>
        </p:blipFill>
        <p:spPr>
          <a:xfrm>
            <a:off x="1680630" y="715226"/>
            <a:ext cx="2833372" cy="5694628"/>
          </a:xfrm>
          <a:prstGeom prst="rect">
            <a:avLst/>
          </a:prstGeom>
          <a:noFill/>
          <a:ln>
            <a:noFill/>
          </a:ln>
        </p:spPr>
      </p:pic>
      <p:sp>
        <p:nvSpPr>
          <p:cNvPr id="172" name="Google Shape;172;p10"/>
          <p:cNvSpPr txBox="1"/>
          <p:nvPr/>
        </p:nvSpPr>
        <p:spPr>
          <a:xfrm>
            <a:off x="2055136" y="5698165"/>
            <a:ext cx="180164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Arial"/>
                <a:ea typeface="Arial"/>
                <a:cs typeface="Arial"/>
                <a:sym typeface="Arial"/>
              </a:rPr>
              <a:t>Giới thiệu</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Arial"/>
                <a:ea typeface="Arial"/>
                <a:cs typeface="Arial"/>
                <a:sym typeface="Arial"/>
              </a:rPr>
              <a:t>Góc chuyên gia</a:t>
            </a:r>
            <a:endParaRPr b="0" i="0" sz="1400" u="none" cap="none" strike="noStrike">
              <a:solidFill>
                <a:srgbClr val="000000"/>
              </a:solidFill>
              <a:latin typeface="Arial"/>
              <a:ea typeface="Arial"/>
              <a:cs typeface="Arial"/>
              <a:sym typeface="Arial"/>
            </a:endParaRPr>
          </a:p>
        </p:txBody>
      </p:sp>
      <p:sp>
        <p:nvSpPr>
          <p:cNvPr id="173" name="Google Shape;173;p10"/>
          <p:cNvSpPr txBox="1"/>
          <p:nvPr/>
        </p:nvSpPr>
        <p:spPr>
          <a:xfrm>
            <a:off x="5703684" y="677519"/>
            <a:ext cx="5386812" cy="1200329"/>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cap="none" strike="noStrike">
                <a:solidFill>
                  <a:schemeClr val="dk1"/>
                </a:solidFill>
                <a:latin typeface="Arial"/>
                <a:ea typeface="Arial"/>
                <a:cs typeface="Arial"/>
                <a:sym typeface="Arial"/>
              </a:rPr>
              <a:t>Giới thiệu: Dạng như mục bài viết để đưa các bài viết về nền tảng, tầm nhìn, sứ mệnh vào</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cap="none" strike="noStrike">
                <a:solidFill>
                  <a:schemeClr val="dk1"/>
                </a:solidFill>
                <a:latin typeface="Arial"/>
                <a:ea typeface="Arial"/>
                <a:cs typeface="Arial"/>
                <a:sym typeface="Arial"/>
              </a:rPr>
              <a:t>Góc chuyên gia:</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74" name="Google Shape;174;p10"/>
          <p:cNvGrpSpPr/>
          <p:nvPr/>
        </p:nvGrpSpPr>
        <p:grpSpPr>
          <a:xfrm>
            <a:off x="6360877" y="1899561"/>
            <a:ext cx="4367479" cy="4852101"/>
            <a:chOff x="6360877" y="1899561"/>
            <a:chExt cx="4367479" cy="4852101"/>
          </a:xfrm>
        </p:grpSpPr>
        <p:pic>
          <p:nvPicPr>
            <p:cNvPr descr="A screenshot of a person with a microphone&#10;&#10;AI-generated content may be incorrect." id="175" name="Google Shape;175;p10"/>
            <p:cNvPicPr preferRelativeResize="0"/>
            <p:nvPr/>
          </p:nvPicPr>
          <p:blipFill rotWithShape="1">
            <a:blip r:embed="rId5">
              <a:alphaModFix/>
            </a:blip>
            <a:srcRect b="0" l="0" r="3268" t="0"/>
            <a:stretch/>
          </p:blipFill>
          <p:spPr>
            <a:xfrm>
              <a:off x="6360877" y="1899561"/>
              <a:ext cx="4367479" cy="2428492"/>
            </a:xfrm>
            <a:prstGeom prst="rect">
              <a:avLst/>
            </a:prstGeom>
            <a:noFill/>
            <a:ln>
              <a:noFill/>
            </a:ln>
          </p:spPr>
        </p:pic>
        <p:pic>
          <p:nvPicPr>
            <p:cNvPr descr="A screenshot of a computer&#10;&#10;AI-generated content may be incorrect." id="176" name="Google Shape;176;p10"/>
            <p:cNvPicPr preferRelativeResize="0"/>
            <p:nvPr/>
          </p:nvPicPr>
          <p:blipFill rotWithShape="1">
            <a:blip r:embed="rId6">
              <a:alphaModFix/>
            </a:blip>
            <a:srcRect b="0" l="0" r="0" t="0"/>
            <a:stretch/>
          </p:blipFill>
          <p:spPr>
            <a:xfrm>
              <a:off x="6360877" y="4385687"/>
              <a:ext cx="4367479" cy="2365975"/>
            </a:xfrm>
            <a:prstGeom prst="rect">
              <a:avLst/>
            </a:prstGeom>
            <a:noFill/>
            <a:ln>
              <a:noFill/>
            </a:ln>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1"/>
          <p:cNvSpPr txBox="1"/>
          <p:nvPr>
            <p:ph type="ctrTitle"/>
          </p:nvPr>
        </p:nvSpPr>
        <p:spPr>
          <a:xfrm>
            <a:off x="1342930" y="268525"/>
            <a:ext cx="10245506" cy="446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70C0"/>
              </a:buClr>
              <a:buSzPts val="2400"/>
              <a:buFont typeface="Times New Roman"/>
              <a:buNone/>
            </a:pPr>
            <a:r>
              <a:rPr b="1" lang="en-US" sz="2400">
                <a:solidFill>
                  <a:srgbClr val="0070C0"/>
                </a:solidFill>
                <a:latin typeface="Times New Roman"/>
                <a:ea typeface="Times New Roman"/>
                <a:cs typeface="Times New Roman"/>
                <a:sym typeface="Times New Roman"/>
              </a:rPr>
              <a:t>THÊM MÀN HÌNH</a:t>
            </a:r>
            <a:endParaRPr/>
          </a:p>
        </p:txBody>
      </p:sp>
      <p:pic>
        <p:nvPicPr>
          <p:cNvPr descr="A logo with a group of people&#10;&#10;AI-generated content may be incorrect." id="182" name="Google Shape;182;p11"/>
          <p:cNvPicPr preferRelativeResize="0"/>
          <p:nvPr/>
        </p:nvPicPr>
        <p:blipFill rotWithShape="1">
          <a:blip r:embed="rId3">
            <a:alphaModFix/>
          </a:blip>
          <a:srcRect b="11595" l="7194" r="9995" t="15195"/>
          <a:stretch/>
        </p:blipFill>
        <p:spPr>
          <a:xfrm>
            <a:off x="0" y="65757"/>
            <a:ext cx="964005" cy="852236"/>
          </a:xfrm>
          <a:prstGeom prst="rect">
            <a:avLst/>
          </a:prstGeom>
          <a:noFill/>
          <a:ln>
            <a:noFill/>
          </a:ln>
        </p:spPr>
      </p:pic>
      <p:sp>
        <p:nvSpPr>
          <p:cNvPr id="183" name="Google Shape;183;p11"/>
          <p:cNvSpPr txBox="1"/>
          <p:nvPr/>
        </p:nvSpPr>
        <p:spPr>
          <a:xfrm>
            <a:off x="4553892" y="1348098"/>
            <a:ext cx="5368706" cy="646331"/>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Pop up chào mua gói sau khi đăng nhập, chỉ áp dụng cho user chưa đăng ký.</a:t>
            </a:r>
            <a:endParaRPr b="0" i="0" sz="1400" u="none" cap="none" strike="noStrike">
              <a:solidFill>
                <a:srgbClr val="000000"/>
              </a:solidFill>
              <a:latin typeface="Arial"/>
              <a:ea typeface="Arial"/>
              <a:cs typeface="Arial"/>
              <a:sym typeface="Arial"/>
            </a:endParaRPr>
          </a:p>
        </p:txBody>
      </p:sp>
      <p:pic>
        <p:nvPicPr>
          <p:cNvPr descr="A screenshot of a baby's list&#10;&#10;AI-generated content may be incorrect." id="184" name="Google Shape;184;p11"/>
          <p:cNvPicPr preferRelativeResize="0"/>
          <p:nvPr/>
        </p:nvPicPr>
        <p:blipFill rotWithShape="1">
          <a:blip r:embed="rId4">
            <a:alphaModFix/>
          </a:blip>
          <a:srcRect b="0" l="0" r="0" t="0"/>
          <a:stretch/>
        </p:blipFill>
        <p:spPr>
          <a:xfrm>
            <a:off x="812850" y="-162175"/>
            <a:ext cx="3163269" cy="6858000"/>
          </a:xfrm>
          <a:prstGeom prst="rect">
            <a:avLst/>
          </a:prstGeom>
          <a:noFill/>
          <a:ln>
            <a:noFill/>
          </a:ln>
        </p:spPr>
      </p:pic>
      <p:sp>
        <p:nvSpPr>
          <p:cNvPr id="185" name="Google Shape;185;p11"/>
          <p:cNvSpPr txBox="1"/>
          <p:nvPr/>
        </p:nvSpPr>
        <p:spPr>
          <a:xfrm>
            <a:off x="4553892" y="3644064"/>
            <a:ext cx="6972679" cy="646331"/>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Người dùng có thể đăng ký tài khoản Chăm con 360 nhanh bằng tài khoản Google hoặc Apple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2"/>
          <p:cNvSpPr txBox="1"/>
          <p:nvPr>
            <p:ph type="ctrTitle"/>
          </p:nvPr>
        </p:nvSpPr>
        <p:spPr>
          <a:xfrm>
            <a:off x="1342930" y="268525"/>
            <a:ext cx="10245506" cy="446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70C0"/>
              </a:buClr>
              <a:buSzPts val="2400"/>
              <a:buFont typeface="Times New Roman"/>
              <a:buNone/>
            </a:pPr>
            <a:r>
              <a:rPr b="1" lang="en-US" sz="2400">
                <a:solidFill>
                  <a:srgbClr val="0070C0"/>
                </a:solidFill>
                <a:latin typeface="Times New Roman"/>
                <a:ea typeface="Times New Roman"/>
                <a:cs typeface="Times New Roman"/>
                <a:sym typeface="Times New Roman"/>
              </a:rPr>
              <a:t>NỘI DUNG</a:t>
            </a:r>
            <a:endParaRPr/>
          </a:p>
        </p:txBody>
      </p:sp>
      <p:pic>
        <p:nvPicPr>
          <p:cNvPr descr="A logo with a group of people&#10;&#10;AI-generated content may be incorrect." id="191" name="Google Shape;191;p12"/>
          <p:cNvPicPr preferRelativeResize="0"/>
          <p:nvPr/>
        </p:nvPicPr>
        <p:blipFill rotWithShape="1">
          <a:blip r:embed="rId3">
            <a:alphaModFix/>
          </a:blip>
          <a:srcRect b="11595" l="7194" r="9995" t="15195"/>
          <a:stretch/>
        </p:blipFill>
        <p:spPr>
          <a:xfrm>
            <a:off x="0" y="65757"/>
            <a:ext cx="964005" cy="852236"/>
          </a:xfrm>
          <a:prstGeom prst="rect">
            <a:avLst/>
          </a:prstGeom>
          <a:noFill/>
          <a:ln>
            <a:noFill/>
          </a:ln>
        </p:spPr>
      </p:pic>
      <p:sp>
        <p:nvSpPr>
          <p:cNvPr id="192" name="Google Shape;192;p12"/>
          <p:cNvSpPr txBox="1"/>
          <p:nvPr/>
        </p:nvSpPr>
        <p:spPr>
          <a:xfrm>
            <a:off x="7840301" y="5232903"/>
            <a:ext cx="200986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Điểm bình quân:</a:t>
            </a:r>
            <a:endParaRPr b="0" i="0" sz="1400" u="none" cap="none" strike="noStrike">
              <a:solidFill>
                <a:srgbClr val="000000"/>
              </a:solidFill>
              <a:latin typeface="Arial"/>
              <a:ea typeface="Arial"/>
              <a:cs typeface="Arial"/>
              <a:sym typeface="Arial"/>
            </a:endParaRPr>
          </a:p>
        </p:txBody>
      </p:sp>
      <p:sp>
        <p:nvSpPr>
          <p:cNvPr id="193" name="Google Shape;193;p12"/>
          <p:cNvSpPr txBox="1"/>
          <p:nvPr/>
        </p:nvSpPr>
        <p:spPr>
          <a:xfrm>
            <a:off x="4155540" y="2516863"/>
            <a:ext cx="4128380" cy="1684564"/>
          </a:xfrm>
          <a:prstGeom prst="rect">
            <a:avLst/>
          </a:prstGeom>
          <a:noFill/>
          <a:ln>
            <a:noFill/>
          </a:ln>
        </p:spPr>
        <p:txBody>
          <a:bodyPr anchorCtr="0" anchor="t" bIns="45700" lIns="91425" spcFirstLastPara="1" rIns="91425" wrap="square" tIns="45700">
            <a:spAutoFit/>
          </a:bodyPr>
          <a:lstStyle/>
          <a:p>
            <a:pPr indent="-342900" lvl="0" marL="342900" marR="0" rtl="0" algn="l">
              <a:lnSpc>
                <a:spcPct val="200000"/>
              </a:lnSpc>
              <a:spcBef>
                <a:spcPts val="0"/>
              </a:spcBef>
              <a:spcAft>
                <a:spcPts val="0"/>
              </a:spcAft>
              <a:buClr>
                <a:srgbClr val="C0E4F5"/>
              </a:buClr>
              <a:buSzPts val="2800"/>
              <a:buFont typeface="Times New Roman"/>
              <a:buAutoNum type="arabicPeriod"/>
            </a:pPr>
            <a:r>
              <a:rPr b="1" i="0" lang="en-US" sz="2800" u="none" cap="none" strike="noStrike">
                <a:solidFill>
                  <a:srgbClr val="C0E4F5"/>
                </a:solidFill>
                <a:latin typeface="Times New Roman"/>
                <a:ea typeface="Times New Roman"/>
                <a:cs typeface="Times New Roman"/>
                <a:sym typeface="Times New Roman"/>
              </a:rPr>
              <a:t>BỔ SUNG MỚI</a:t>
            </a:r>
            <a:endParaRPr b="0" i="0" sz="1400" u="none" cap="none" strike="noStrike">
              <a:solidFill>
                <a:srgbClr val="000000"/>
              </a:solidFill>
              <a:latin typeface="Arial"/>
              <a:ea typeface="Arial"/>
              <a:cs typeface="Arial"/>
              <a:sym typeface="Arial"/>
            </a:endParaRPr>
          </a:p>
          <a:p>
            <a:pPr indent="-342900" lvl="0" marL="342900" marR="0" rtl="0" algn="l">
              <a:lnSpc>
                <a:spcPct val="200000"/>
              </a:lnSpc>
              <a:spcBef>
                <a:spcPts val="0"/>
              </a:spcBef>
              <a:spcAft>
                <a:spcPts val="0"/>
              </a:spcAft>
              <a:buClr>
                <a:srgbClr val="1F7A80"/>
              </a:buClr>
              <a:buSzPts val="2800"/>
              <a:buFont typeface="Times New Roman"/>
              <a:buAutoNum type="arabicPeriod"/>
            </a:pPr>
            <a:r>
              <a:rPr b="1" i="0" lang="en-US" sz="2800" u="none" cap="none" strike="noStrike">
                <a:solidFill>
                  <a:srgbClr val="1F7A80"/>
                </a:solidFill>
                <a:latin typeface="Times New Roman"/>
                <a:ea typeface="Times New Roman"/>
                <a:cs typeface="Times New Roman"/>
                <a:sym typeface="Times New Roman"/>
              </a:rPr>
              <a:t>HIỆU CHỈNH</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3"/>
          <p:cNvSpPr txBox="1"/>
          <p:nvPr>
            <p:ph type="ctrTitle"/>
          </p:nvPr>
        </p:nvSpPr>
        <p:spPr>
          <a:xfrm>
            <a:off x="1342930" y="268525"/>
            <a:ext cx="10245506" cy="446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70C0"/>
              </a:buClr>
              <a:buSzPts val="2400"/>
              <a:buFont typeface="Times New Roman"/>
              <a:buNone/>
            </a:pPr>
            <a:r>
              <a:rPr b="1" lang="en-US" sz="2400">
                <a:solidFill>
                  <a:srgbClr val="0070C0"/>
                </a:solidFill>
                <a:latin typeface="Times New Roman"/>
                <a:ea typeface="Times New Roman"/>
                <a:cs typeface="Times New Roman"/>
                <a:sym typeface="Times New Roman"/>
              </a:rPr>
              <a:t>LỊCH SỬ THỂ CHẤT</a:t>
            </a:r>
            <a:endParaRPr/>
          </a:p>
        </p:txBody>
      </p:sp>
      <p:pic>
        <p:nvPicPr>
          <p:cNvPr descr="A logo with a group of people&#10;&#10;AI-generated content may be incorrect." id="199" name="Google Shape;199;p13"/>
          <p:cNvPicPr preferRelativeResize="0"/>
          <p:nvPr/>
        </p:nvPicPr>
        <p:blipFill rotWithShape="1">
          <a:blip r:embed="rId3">
            <a:alphaModFix/>
          </a:blip>
          <a:srcRect b="11595" l="7194" r="9995" t="15195"/>
          <a:stretch/>
        </p:blipFill>
        <p:spPr>
          <a:xfrm>
            <a:off x="0" y="65757"/>
            <a:ext cx="964005" cy="852236"/>
          </a:xfrm>
          <a:prstGeom prst="rect">
            <a:avLst/>
          </a:prstGeom>
          <a:noFill/>
          <a:ln>
            <a:noFill/>
          </a:ln>
        </p:spPr>
      </p:pic>
      <p:pic>
        <p:nvPicPr>
          <p:cNvPr descr="A screenshot of a phone&#10;&#10;AI-generated content may be incorrect." id="200" name="Google Shape;200;p13"/>
          <p:cNvPicPr preferRelativeResize="0"/>
          <p:nvPr/>
        </p:nvPicPr>
        <p:blipFill rotWithShape="1">
          <a:blip r:embed="rId4">
            <a:alphaModFix/>
          </a:blip>
          <a:srcRect b="0" l="0" r="0" t="0"/>
          <a:stretch/>
        </p:blipFill>
        <p:spPr>
          <a:xfrm>
            <a:off x="5170494" y="1251473"/>
            <a:ext cx="2590377" cy="5606527"/>
          </a:xfrm>
          <a:prstGeom prst="rect">
            <a:avLst/>
          </a:prstGeom>
          <a:noFill/>
          <a:ln>
            <a:noFill/>
          </a:ln>
        </p:spPr>
      </p:pic>
      <p:pic>
        <p:nvPicPr>
          <p:cNvPr descr="A screenshot of a cell phone&#10;&#10;AI-generated content may be incorrect." id="201" name="Google Shape;201;p13"/>
          <p:cNvPicPr preferRelativeResize="0"/>
          <p:nvPr/>
        </p:nvPicPr>
        <p:blipFill rotWithShape="1">
          <a:blip r:embed="rId5">
            <a:alphaModFix/>
          </a:blip>
          <a:srcRect b="8282" l="2018" r="-2018" t="-247"/>
          <a:stretch/>
        </p:blipFill>
        <p:spPr>
          <a:xfrm>
            <a:off x="172347" y="1075099"/>
            <a:ext cx="2718398" cy="5419996"/>
          </a:xfrm>
          <a:prstGeom prst="rect">
            <a:avLst/>
          </a:prstGeom>
          <a:noFill/>
          <a:ln>
            <a:noFill/>
          </a:ln>
        </p:spPr>
      </p:pic>
      <p:sp>
        <p:nvSpPr>
          <p:cNvPr id="202" name="Google Shape;202;p13"/>
          <p:cNvSpPr/>
          <p:nvPr/>
        </p:nvSpPr>
        <p:spPr>
          <a:xfrm>
            <a:off x="3185225" y="1078800"/>
            <a:ext cx="1891500" cy="2677200"/>
          </a:xfrm>
          <a:custGeom>
            <a:rect b="b" l="l" r="r" t="t"/>
            <a:pathLst>
              <a:path extrusionOk="0" h="120000" w="120000">
                <a:moveTo>
                  <a:pt x="0" y="0"/>
                </a:moveTo>
                <a:lnTo>
                  <a:pt x="120000" y="0"/>
                </a:lnTo>
                <a:lnTo>
                  <a:pt x="120000" y="120000"/>
                </a:lnTo>
                <a:lnTo>
                  <a:pt x="0" y="120000"/>
                </a:lnTo>
                <a:close/>
              </a:path>
              <a:path extrusionOk="0" fill="none" h="120000" w="120000">
                <a:moveTo>
                  <a:pt x="-1188" y="62040"/>
                </a:moveTo>
                <a:lnTo>
                  <a:pt x="-33510" y="17327"/>
                </a:lnTo>
              </a:path>
            </a:pathLst>
          </a:custGeom>
          <a:noFill/>
          <a:ln cap="flat" cmpd="sng" w="19050">
            <a:solidFill>
              <a:srgbClr val="082836"/>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1F7A80"/>
                </a:solidFill>
                <a:latin typeface="Arial"/>
                <a:ea typeface="Arial"/>
                <a:cs typeface="Arial"/>
                <a:sym typeface="Arial"/>
              </a:rPr>
              <a:t>User thích xem m.hình này nhưng khó nhận biết, làm sao dễ nhận ra hơn.</a:t>
            </a:r>
            <a:br>
              <a:rPr b="0" i="0" lang="en-US" sz="1800" u="none" cap="none" strike="noStrike">
                <a:solidFill>
                  <a:srgbClr val="1F7A80"/>
                </a:solidFill>
                <a:latin typeface="Arial"/>
                <a:ea typeface="Arial"/>
                <a:cs typeface="Arial"/>
                <a:sym typeface="Arial"/>
              </a:rPr>
            </a:br>
            <a:r>
              <a:rPr b="0" i="0" lang="en-US" sz="1800" u="none" cap="none" strike="noStrike">
                <a:solidFill>
                  <a:srgbClr val="1F7A80"/>
                </a:solidFill>
                <a:latin typeface="Arial"/>
                <a:ea typeface="Arial"/>
                <a:cs typeface="Arial"/>
                <a:sym typeface="Arial"/>
              </a:rPr>
              <a:t>(</a:t>
            </a:r>
            <a:r>
              <a:rPr lang="en-US" sz="1800">
                <a:solidFill>
                  <a:srgbClr val="1F7A80"/>
                </a:solidFill>
              </a:rPr>
              <a:t>Chỗ Hoàn thành chuyển sang Xem L.sử</a:t>
            </a:r>
            <a:r>
              <a:rPr b="0" i="0" lang="en-US" sz="1800" u="none" cap="none" strike="noStrike">
                <a:solidFill>
                  <a:srgbClr val="1F7A80"/>
                </a:solidFill>
                <a:latin typeface="Arial"/>
                <a:ea typeface="Arial"/>
                <a:cs typeface="Arial"/>
                <a:sym typeface="Arial"/>
              </a:rPr>
              <a:t>)</a:t>
            </a:r>
            <a:endParaRPr b="0" i="0" sz="1800" u="none" cap="none" strike="noStrike">
              <a:solidFill>
                <a:srgbClr val="1F7A8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1F7A80"/>
              </a:solidFill>
              <a:latin typeface="Arial"/>
              <a:ea typeface="Arial"/>
              <a:cs typeface="Arial"/>
              <a:sym typeface="Arial"/>
            </a:endParaRPr>
          </a:p>
        </p:txBody>
      </p:sp>
      <p:pic>
        <p:nvPicPr>
          <p:cNvPr descr="A screenshot of a cell phone&#10;&#10;AI-generated content may be incorrect." id="203" name="Google Shape;203;p13"/>
          <p:cNvPicPr preferRelativeResize="0"/>
          <p:nvPr/>
        </p:nvPicPr>
        <p:blipFill rotWithShape="1">
          <a:blip r:embed="rId6">
            <a:alphaModFix/>
          </a:blip>
          <a:srcRect b="51179" l="0" r="0" t="0"/>
          <a:stretch/>
        </p:blipFill>
        <p:spPr>
          <a:xfrm>
            <a:off x="9033306" y="1651009"/>
            <a:ext cx="2414364" cy="1644255"/>
          </a:xfrm>
          <a:prstGeom prst="rect">
            <a:avLst/>
          </a:prstGeom>
          <a:noFill/>
          <a:ln>
            <a:noFill/>
          </a:ln>
        </p:spPr>
      </p:pic>
      <p:sp>
        <p:nvSpPr>
          <p:cNvPr id="204" name="Google Shape;204;p13"/>
          <p:cNvSpPr/>
          <p:nvPr/>
        </p:nvSpPr>
        <p:spPr>
          <a:xfrm>
            <a:off x="8057584" y="2026437"/>
            <a:ext cx="823866" cy="446700"/>
          </a:xfrm>
          <a:prstGeom prst="rightArrow">
            <a:avLst>
              <a:gd fmla="val 50000" name="adj1"/>
              <a:gd fmla="val 50000" name="adj2"/>
            </a:avLst>
          </a:prstGeom>
          <a:solidFill>
            <a:schemeClr val="accent1"/>
          </a:solidFill>
          <a:ln cap="flat" cmpd="sng" w="19050">
            <a:solidFill>
              <a:srgbClr val="082836"/>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05" name="Google Shape;205;p13"/>
          <p:cNvSpPr txBox="1"/>
          <p:nvPr/>
        </p:nvSpPr>
        <p:spPr>
          <a:xfrm>
            <a:off x="8057575" y="3295278"/>
            <a:ext cx="3962100" cy="14775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Thay đổi vị trí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So sánh cân nặng với chuẩn WHO</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lang="en-US" sz="1800">
                <a:solidFill>
                  <a:schemeClr val="dk1"/>
                </a:solidFill>
              </a:rPr>
              <a:t>Bổ sung BMI cho trẻ &lt; 5 tuổi (đính chính và đã gửi file)</a:t>
            </a:r>
            <a:endParaRPr b="0" i="0" sz="1800" u="none" cap="none" strike="noStrike">
              <a:solidFill>
                <a:schemeClr val="dk1"/>
              </a:solidFill>
              <a:latin typeface="Arial"/>
              <a:ea typeface="Arial"/>
              <a:cs typeface="Arial"/>
              <a:sym typeface="Arial"/>
            </a:endParaRPr>
          </a:p>
        </p:txBody>
      </p:sp>
      <p:pic>
        <p:nvPicPr>
          <p:cNvPr id="206" name="Google Shape;206;p13"/>
          <p:cNvPicPr preferRelativeResize="0"/>
          <p:nvPr/>
        </p:nvPicPr>
        <p:blipFill>
          <a:blip r:embed="rId7">
            <a:alphaModFix/>
          </a:blip>
          <a:stretch>
            <a:fillRect/>
          </a:stretch>
        </p:blipFill>
        <p:spPr>
          <a:xfrm>
            <a:off x="2986000" y="3921300"/>
            <a:ext cx="2089250" cy="3078352"/>
          </a:xfrm>
          <a:prstGeom prst="rect">
            <a:avLst/>
          </a:prstGeom>
          <a:noFill/>
          <a:ln>
            <a:noFill/>
          </a:ln>
        </p:spPr>
      </p:pic>
      <p:sp>
        <p:nvSpPr>
          <p:cNvPr id="207" name="Google Shape;207;p13"/>
          <p:cNvSpPr txBox="1"/>
          <p:nvPr/>
        </p:nvSpPr>
        <p:spPr>
          <a:xfrm>
            <a:off x="4167925" y="6495100"/>
            <a:ext cx="823800" cy="24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chemeClr val="dk1"/>
                </a:solidFill>
              </a:rPr>
              <a:t>Dự đoán</a:t>
            </a:r>
            <a:endParaRPr sz="1200">
              <a:solidFill>
                <a:schemeClr val="dk1"/>
              </a:solidFill>
            </a:endParaRPr>
          </a:p>
        </p:txBody>
      </p:sp>
      <p:sp>
        <p:nvSpPr>
          <p:cNvPr id="208" name="Google Shape;208;p13"/>
          <p:cNvSpPr txBox="1"/>
          <p:nvPr/>
        </p:nvSpPr>
        <p:spPr>
          <a:xfrm>
            <a:off x="3233875" y="6495100"/>
            <a:ext cx="823800" cy="24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chemeClr val="dk1"/>
                </a:solidFill>
              </a:rPr>
              <a:t>Lịch sử</a:t>
            </a:r>
            <a:endParaRPr sz="1200">
              <a:solidFill>
                <a:schemeClr val="dk1"/>
              </a:solidFill>
            </a:endParaRPr>
          </a:p>
        </p:txBody>
      </p:sp>
      <p:sp>
        <p:nvSpPr>
          <p:cNvPr id="209" name="Google Shape;209;p13"/>
          <p:cNvSpPr txBox="1"/>
          <p:nvPr/>
        </p:nvSpPr>
        <p:spPr>
          <a:xfrm>
            <a:off x="2066950" y="1403200"/>
            <a:ext cx="823800" cy="24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chemeClr val="dk1"/>
                </a:solidFill>
              </a:rPr>
              <a:t>Lịch sử</a:t>
            </a:r>
            <a:endParaRPr sz="1200">
              <a:solidFill>
                <a:schemeClr val="dk1"/>
              </a:solidFill>
            </a:endParaRPr>
          </a:p>
        </p:txBody>
      </p:sp>
      <p:pic>
        <p:nvPicPr>
          <p:cNvPr descr="A screenshot of a cell phone&#10;&#10;AI-generated content may be incorrect." id="210" name="Google Shape;210;p13"/>
          <p:cNvPicPr preferRelativeResize="0"/>
          <p:nvPr/>
        </p:nvPicPr>
        <p:blipFill rotWithShape="1">
          <a:blip r:embed="rId5">
            <a:alphaModFix/>
          </a:blip>
          <a:srcRect b="8286" l="73921" r="-2020" t="84135"/>
          <a:stretch/>
        </p:blipFill>
        <p:spPr>
          <a:xfrm>
            <a:off x="6898424" y="5765600"/>
            <a:ext cx="763851" cy="4467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4"/>
          <p:cNvSpPr txBox="1"/>
          <p:nvPr>
            <p:ph type="ctrTitle"/>
          </p:nvPr>
        </p:nvSpPr>
        <p:spPr>
          <a:xfrm>
            <a:off x="1342930" y="268525"/>
            <a:ext cx="10245506" cy="446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70C0"/>
              </a:buClr>
              <a:buSzPts val="2400"/>
              <a:buFont typeface="Times New Roman"/>
              <a:buNone/>
            </a:pPr>
            <a:r>
              <a:rPr b="1" lang="en-US" sz="2400">
                <a:solidFill>
                  <a:srgbClr val="0070C0"/>
                </a:solidFill>
                <a:latin typeface="Times New Roman"/>
                <a:ea typeface="Times New Roman"/>
                <a:cs typeface="Times New Roman"/>
                <a:sym typeface="Times New Roman"/>
              </a:rPr>
              <a:t>ĐÁNH GIÁ IQ</a:t>
            </a:r>
            <a:endParaRPr/>
          </a:p>
        </p:txBody>
      </p:sp>
      <p:pic>
        <p:nvPicPr>
          <p:cNvPr descr="A logo with a group of people&#10;&#10;AI-generated content may be incorrect." id="216" name="Google Shape;216;p14"/>
          <p:cNvPicPr preferRelativeResize="0"/>
          <p:nvPr/>
        </p:nvPicPr>
        <p:blipFill rotWithShape="1">
          <a:blip r:embed="rId3">
            <a:alphaModFix/>
          </a:blip>
          <a:srcRect b="11595" l="7194" r="9995" t="15195"/>
          <a:stretch/>
        </p:blipFill>
        <p:spPr>
          <a:xfrm>
            <a:off x="0" y="65757"/>
            <a:ext cx="964005" cy="852236"/>
          </a:xfrm>
          <a:prstGeom prst="rect">
            <a:avLst/>
          </a:prstGeom>
          <a:noFill/>
          <a:ln>
            <a:noFill/>
          </a:ln>
        </p:spPr>
      </p:pic>
      <p:sp>
        <p:nvSpPr>
          <p:cNvPr id="217" name="Google Shape;217;p14"/>
          <p:cNvSpPr txBox="1"/>
          <p:nvPr/>
        </p:nvSpPr>
        <p:spPr>
          <a:xfrm>
            <a:off x="762000" y="1330847"/>
            <a:ext cx="9189300" cy="17547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Hiện trạng: Chưa phân loại các loại IQ như: Ngôn ngữ, toán học logic, Hình ảnh, trí nhớ</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Giải pháp: Phân loại tương tự EQ và AQ</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Các câu hỏi sẽ gắn thêm thuộc tính loại IQ</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Khi đánh giá xong hiện kết quả từng loại IQ ở 2 màn hình này và trên CMS như AQ, EQ</a:t>
            </a:r>
            <a:endParaRPr b="0" i="0" sz="1400" u="none" cap="none" strike="noStrike">
              <a:solidFill>
                <a:srgbClr val="000000"/>
              </a:solidFill>
              <a:latin typeface="Arial"/>
              <a:ea typeface="Arial"/>
              <a:cs typeface="Arial"/>
              <a:sym typeface="Arial"/>
            </a:endParaRPr>
          </a:p>
        </p:txBody>
      </p:sp>
      <p:pic>
        <p:nvPicPr>
          <p:cNvPr descr="A screenshot of a phone&#10;&#10;AI-generated content may be incorrect." id="218" name="Google Shape;218;p14"/>
          <p:cNvPicPr preferRelativeResize="0"/>
          <p:nvPr/>
        </p:nvPicPr>
        <p:blipFill rotWithShape="1">
          <a:blip r:embed="rId4">
            <a:alphaModFix/>
          </a:blip>
          <a:srcRect b="13743" l="0" r="0" t="0"/>
          <a:stretch/>
        </p:blipFill>
        <p:spPr>
          <a:xfrm>
            <a:off x="7675776" y="2538197"/>
            <a:ext cx="2088333" cy="3905325"/>
          </a:xfrm>
          <a:prstGeom prst="rect">
            <a:avLst/>
          </a:prstGeom>
          <a:noFill/>
          <a:ln>
            <a:noFill/>
          </a:ln>
        </p:spPr>
      </p:pic>
      <p:pic>
        <p:nvPicPr>
          <p:cNvPr descr="A screenshot of a phone&#10;&#10;AI-generated content may be incorrect." id="219" name="Google Shape;219;p14"/>
          <p:cNvPicPr preferRelativeResize="0"/>
          <p:nvPr/>
        </p:nvPicPr>
        <p:blipFill rotWithShape="1">
          <a:blip r:embed="rId5">
            <a:alphaModFix/>
          </a:blip>
          <a:srcRect b="6176" l="0" r="0" t="0"/>
          <a:stretch/>
        </p:blipFill>
        <p:spPr>
          <a:xfrm>
            <a:off x="9951298" y="1898249"/>
            <a:ext cx="1899584" cy="38639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5"/>
          <p:cNvSpPr txBox="1"/>
          <p:nvPr>
            <p:ph type="ctrTitle"/>
          </p:nvPr>
        </p:nvSpPr>
        <p:spPr>
          <a:xfrm>
            <a:off x="1342930" y="268525"/>
            <a:ext cx="10245506" cy="446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70C0"/>
              </a:buClr>
              <a:buSzPts val="2400"/>
              <a:buFont typeface="Times New Roman"/>
              <a:buNone/>
            </a:pPr>
            <a:r>
              <a:rPr b="1" lang="en-US" sz="2400">
                <a:solidFill>
                  <a:srgbClr val="0070C0"/>
                </a:solidFill>
                <a:latin typeface="Times New Roman"/>
                <a:ea typeface="Times New Roman"/>
                <a:cs typeface="Times New Roman"/>
                <a:sym typeface="Times New Roman"/>
              </a:rPr>
              <a:t>ĐÁNH GIÁ IQ</a:t>
            </a:r>
            <a:endParaRPr/>
          </a:p>
        </p:txBody>
      </p:sp>
      <p:pic>
        <p:nvPicPr>
          <p:cNvPr descr="A logo with a group of people&#10;&#10;AI-generated content may be incorrect." id="225" name="Google Shape;225;p15"/>
          <p:cNvPicPr preferRelativeResize="0"/>
          <p:nvPr/>
        </p:nvPicPr>
        <p:blipFill rotWithShape="1">
          <a:blip r:embed="rId3">
            <a:alphaModFix/>
          </a:blip>
          <a:srcRect b="11595" l="7194" r="9995" t="15195"/>
          <a:stretch/>
        </p:blipFill>
        <p:spPr>
          <a:xfrm>
            <a:off x="0" y="65757"/>
            <a:ext cx="964005" cy="852236"/>
          </a:xfrm>
          <a:prstGeom prst="rect">
            <a:avLst/>
          </a:prstGeom>
          <a:noFill/>
          <a:ln>
            <a:noFill/>
          </a:ln>
        </p:spPr>
      </p:pic>
      <p:sp>
        <p:nvSpPr>
          <p:cNvPr id="226" name="Google Shape;226;p15"/>
          <p:cNvSpPr txBox="1"/>
          <p:nvPr/>
        </p:nvSpPr>
        <p:spPr>
          <a:xfrm>
            <a:off x="271600" y="1055295"/>
            <a:ext cx="6219600" cy="12006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Riêng phần đánh giá TRÍ NHỚ thiết kế riêng giống game lật thẻ</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dk1"/>
                </a:solidFill>
                <a:latin typeface="Arial"/>
                <a:ea typeface="Arial"/>
                <a:cs typeface="Arial"/>
                <a:sym typeface="Arial"/>
                <a:hlinkClick r:id="rId4">
                  <a:extLst>
                    <a:ext uri="{A12FA001-AC4F-418D-AE19-62706E023703}">
                      <ahyp:hlinkClr val="tx"/>
                    </a:ext>
                  </a:extLst>
                </a:hlinkClick>
              </a:rPr>
              <a:t>https://play.google.com/store/apps/details?id=com.brandedbrothers.memogame</a:t>
            </a:r>
            <a:endParaRPr b="0" i="0" sz="1800" u="none" cap="none" strike="noStrike">
              <a:solidFill>
                <a:schemeClr val="dk1"/>
              </a:solidFill>
              <a:latin typeface="Arial"/>
              <a:ea typeface="Arial"/>
              <a:cs typeface="Arial"/>
              <a:sym typeface="Arial"/>
            </a:endParaRPr>
          </a:p>
        </p:txBody>
      </p:sp>
      <p:pic>
        <p:nvPicPr>
          <p:cNvPr descr="A screenshot of a game&#10;&#10;AI-generated content may be incorrect." id="227" name="Google Shape;227;p15"/>
          <p:cNvPicPr preferRelativeResize="0"/>
          <p:nvPr/>
        </p:nvPicPr>
        <p:blipFill rotWithShape="1">
          <a:blip r:embed="rId5">
            <a:alphaModFix/>
          </a:blip>
          <a:srcRect b="0" l="0" r="0" t="0"/>
          <a:stretch/>
        </p:blipFill>
        <p:spPr>
          <a:xfrm>
            <a:off x="1342930" y="2393194"/>
            <a:ext cx="1935546" cy="4196281"/>
          </a:xfrm>
          <a:prstGeom prst="rect">
            <a:avLst/>
          </a:prstGeom>
          <a:noFill/>
          <a:ln>
            <a:noFill/>
          </a:ln>
        </p:spPr>
      </p:pic>
      <p:pic>
        <p:nvPicPr>
          <p:cNvPr descr="A screenshot of a game&#10;&#10;AI-generated content may be incorrect." id="228" name="Google Shape;228;p15"/>
          <p:cNvPicPr preferRelativeResize="0"/>
          <p:nvPr/>
        </p:nvPicPr>
        <p:blipFill rotWithShape="1">
          <a:blip r:embed="rId6">
            <a:alphaModFix/>
          </a:blip>
          <a:srcRect b="0" l="0" r="0" t="0"/>
          <a:stretch/>
        </p:blipFill>
        <p:spPr>
          <a:xfrm>
            <a:off x="3463039" y="2393194"/>
            <a:ext cx="1935546" cy="4196281"/>
          </a:xfrm>
          <a:prstGeom prst="rect">
            <a:avLst/>
          </a:prstGeom>
          <a:noFill/>
          <a:ln>
            <a:noFill/>
          </a:ln>
        </p:spPr>
      </p:pic>
      <p:graphicFrame>
        <p:nvGraphicFramePr>
          <p:cNvPr id="229" name="Google Shape;229;p15"/>
          <p:cNvGraphicFramePr/>
          <p:nvPr/>
        </p:nvGraphicFramePr>
        <p:xfrm>
          <a:off x="6747079" y="1635840"/>
          <a:ext cx="3000000" cy="3000000"/>
        </p:xfrm>
        <a:graphic>
          <a:graphicData uri="http://schemas.openxmlformats.org/drawingml/2006/table">
            <a:tbl>
              <a:tblPr bandRow="1" firstRow="1">
                <a:noFill/>
                <a:tableStyleId>{17F428B4-F8E9-40C2-9FEF-4FABCB7235EE}</a:tableStyleId>
              </a:tblPr>
              <a:tblGrid>
                <a:gridCol w="936450"/>
                <a:gridCol w="1624325"/>
                <a:gridCol w="1541200"/>
              </a:tblGrid>
              <a:tr h="31190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TUỔI</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KÍCH THƯỚC</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THỜI GIAN (</a:t>
                      </a:r>
                      <a:r>
                        <a:rPr lang="en-US" sz="1800"/>
                        <a:t>giây</a:t>
                      </a:r>
                      <a:r>
                        <a:rPr lang="en-US" sz="1800" u="none" cap="none" strike="noStrike"/>
                        <a:t>)</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a:t>1-</a:t>
                      </a:r>
                      <a:r>
                        <a:rPr lang="en-US" sz="1800" u="none" cap="none" strike="noStrike"/>
                        <a:t>2</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2X2</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a:t>30</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3-4</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2X3</a:t>
                      </a:r>
                      <a:endParaRPr sz="1400" u="none" cap="none" strike="noStrike"/>
                    </a:p>
                  </a:txBody>
                  <a:tcPr marT="45725" marB="45725" marR="91450" marL="91450"/>
                </a:tc>
                <a:tc>
                  <a:txBody>
                    <a:bodyPr/>
                    <a:lstStyle/>
                    <a:p>
                      <a:pPr indent="0" lvl="0" marL="0" rtl="0" algn="ctr">
                        <a:spcBef>
                          <a:spcPts val="0"/>
                        </a:spcBef>
                        <a:spcAft>
                          <a:spcPts val="0"/>
                        </a:spcAft>
                        <a:buNone/>
                      </a:pPr>
                      <a:r>
                        <a:rPr lang="en-US" sz="1800"/>
                        <a:t>45</a:t>
                      </a:r>
                      <a:endParaRPr>
                        <a:solidFill>
                          <a:schemeClr val="dk1"/>
                        </a:solidFill>
                        <a:latin typeface="Aptos"/>
                        <a:ea typeface="Aptos"/>
                        <a:cs typeface="Aptos"/>
                        <a:sym typeface="Aptos"/>
                      </a:endParaRPr>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5-7</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3X4</a:t>
                      </a:r>
                      <a:endParaRPr sz="1400" u="none" cap="none" strike="noStrike"/>
                    </a:p>
                  </a:txBody>
                  <a:tcPr marT="45725" marB="45725" marR="91450" marL="91450"/>
                </a:tc>
                <a:tc>
                  <a:txBody>
                    <a:bodyPr/>
                    <a:lstStyle/>
                    <a:p>
                      <a:pPr indent="0" lvl="0" marL="0" rtl="0" algn="ctr">
                        <a:spcBef>
                          <a:spcPts val="0"/>
                        </a:spcBef>
                        <a:spcAft>
                          <a:spcPts val="0"/>
                        </a:spcAft>
                        <a:buNone/>
                      </a:pPr>
                      <a:r>
                        <a:rPr lang="en-US" sz="1800">
                          <a:solidFill>
                            <a:schemeClr val="dk1"/>
                          </a:solidFill>
                          <a:latin typeface="Aptos"/>
                          <a:ea typeface="Aptos"/>
                          <a:cs typeface="Aptos"/>
                          <a:sym typeface="Aptos"/>
                        </a:rPr>
                        <a:t>60</a:t>
                      </a:r>
                      <a:endParaRPr>
                        <a:solidFill>
                          <a:schemeClr val="dk1"/>
                        </a:solidFill>
                        <a:latin typeface="Aptos"/>
                        <a:ea typeface="Aptos"/>
                        <a:cs typeface="Aptos"/>
                        <a:sym typeface="Aptos"/>
                      </a:endParaRPr>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8-</a:t>
                      </a:r>
                      <a:r>
                        <a:rPr lang="en-US" sz="1800"/>
                        <a:t>9</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4X4</a:t>
                      </a:r>
                      <a:endParaRPr sz="1400" u="none" cap="none" strike="noStrike"/>
                    </a:p>
                  </a:txBody>
                  <a:tcPr marT="45725" marB="45725" marR="91450" marL="91450"/>
                </a:tc>
                <a:tc>
                  <a:txBody>
                    <a:bodyPr/>
                    <a:lstStyle/>
                    <a:p>
                      <a:pPr indent="0" lvl="0" marL="0" rtl="0" algn="ctr">
                        <a:spcBef>
                          <a:spcPts val="0"/>
                        </a:spcBef>
                        <a:spcAft>
                          <a:spcPts val="0"/>
                        </a:spcAft>
                        <a:buNone/>
                      </a:pPr>
                      <a:r>
                        <a:rPr lang="en-US" sz="1800">
                          <a:solidFill>
                            <a:schemeClr val="dk1"/>
                          </a:solidFill>
                          <a:latin typeface="Aptos"/>
                          <a:ea typeface="Aptos"/>
                          <a:cs typeface="Aptos"/>
                          <a:sym typeface="Aptos"/>
                        </a:rPr>
                        <a:t>60</a:t>
                      </a:r>
                      <a:endParaRPr>
                        <a:solidFill>
                          <a:schemeClr val="dk1"/>
                        </a:solidFill>
                        <a:latin typeface="Aptos"/>
                        <a:ea typeface="Aptos"/>
                        <a:cs typeface="Aptos"/>
                        <a:sym typeface="Aptos"/>
                      </a:endParaRPr>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10-1</a:t>
                      </a:r>
                      <a:r>
                        <a:rPr lang="en-US" sz="1800"/>
                        <a:t>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4X5</a:t>
                      </a:r>
                      <a:endParaRPr sz="1400" u="none" cap="none" strike="noStrike"/>
                    </a:p>
                  </a:txBody>
                  <a:tcPr marT="45725" marB="45725" marR="91450" marL="91450"/>
                </a:tc>
                <a:tc>
                  <a:txBody>
                    <a:bodyPr/>
                    <a:lstStyle/>
                    <a:p>
                      <a:pPr indent="0" lvl="0" marL="0" rtl="0" algn="ctr">
                        <a:spcBef>
                          <a:spcPts val="0"/>
                        </a:spcBef>
                        <a:spcAft>
                          <a:spcPts val="0"/>
                        </a:spcAft>
                        <a:buNone/>
                      </a:pPr>
                      <a:r>
                        <a:rPr lang="en-US" sz="1800">
                          <a:solidFill>
                            <a:schemeClr val="dk1"/>
                          </a:solidFill>
                          <a:latin typeface="Aptos"/>
                          <a:ea typeface="Aptos"/>
                          <a:cs typeface="Aptos"/>
                          <a:sym typeface="Aptos"/>
                        </a:rPr>
                        <a:t>60</a:t>
                      </a:r>
                      <a:endParaRPr>
                        <a:solidFill>
                          <a:schemeClr val="dk1"/>
                        </a:solidFill>
                        <a:latin typeface="Aptos"/>
                        <a:ea typeface="Aptos"/>
                        <a:cs typeface="Aptos"/>
                        <a:sym typeface="Aptos"/>
                      </a:endParaRPr>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a:t>
                      </a:r>
                      <a:r>
                        <a:rPr lang="en-US" sz="1800"/>
                        <a:t>2</a:t>
                      </a:r>
                      <a:r>
                        <a:rPr lang="en-US" sz="1800" u="none" cap="none" strike="noStrike"/>
                        <a:t>-14</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5X6</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a:latin typeface="Arial"/>
                          <a:ea typeface="Arial"/>
                          <a:cs typeface="Arial"/>
                          <a:sym typeface="Arial"/>
                        </a:rPr>
                        <a:t>90</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&gt;14</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6X6</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a:latin typeface="Arial"/>
                          <a:ea typeface="Arial"/>
                          <a:cs typeface="Arial"/>
                          <a:sym typeface="Arial"/>
                        </a:rPr>
                        <a:t>90</a:t>
                      </a:r>
                      <a:endParaRPr sz="1400" u="none" cap="none" strike="noStrike"/>
                    </a:p>
                  </a:txBody>
                  <a:tcPr marT="45725" marB="45725" marR="91450" marL="91450"/>
                </a:tc>
              </a:tr>
            </a:tbl>
          </a:graphicData>
        </a:graphic>
      </p:graphicFrame>
      <p:sp>
        <p:nvSpPr>
          <p:cNvPr id="230" name="Google Shape;230;p15"/>
          <p:cNvSpPr txBox="1"/>
          <p:nvPr/>
        </p:nvSpPr>
        <p:spPr>
          <a:xfrm>
            <a:off x="5821379" y="5421576"/>
            <a:ext cx="6219729" cy="92333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4 chủ đề: xe, hoa, số, cờ mà người chơi có thể lựa chọn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FF0000"/>
              </a:buClr>
              <a:buSzPts val="1800"/>
              <a:buFont typeface="Arial"/>
              <a:buChar char="-"/>
            </a:pPr>
            <a:r>
              <a:rPr b="0" i="0" lang="en-US" sz="1800" u="none" cap="none" strike="noStrike">
                <a:solidFill>
                  <a:srgbClr val="FF0000"/>
                </a:solidFill>
                <a:latin typeface="Arial"/>
                <a:ea typeface="Arial"/>
                <a:cs typeface="Arial"/>
                <a:sym typeface="Arial"/>
              </a:rPr>
              <a:t>Mỗi bài test 3 game(tương đương 3 câu)</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Tính 1 điểm hoàn thành bài test trong thời gian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6"/>
          <p:cNvSpPr txBox="1"/>
          <p:nvPr>
            <p:ph type="ctrTitle"/>
          </p:nvPr>
        </p:nvSpPr>
        <p:spPr>
          <a:xfrm>
            <a:off x="1342930" y="268525"/>
            <a:ext cx="10245506" cy="446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70C0"/>
              </a:buClr>
              <a:buSzPts val="2400"/>
              <a:buFont typeface="Times New Roman"/>
              <a:buNone/>
            </a:pPr>
            <a:r>
              <a:rPr b="1" lang="en-US" sz="2400">
                <a:solidFill>
                  <a:srgbClr val="0070C0"/>
                </a:solidFill>
                <a:latin typeface="Times New Roman"/>
                <a:ea typeface="Times New Roman"/>
                <a:cs typeface="Times New Roman"/>
                <a:sym typeface="Times New Roman"/>
              </a:rPr>
              <a:t>THEO DÕI THAI KỲ</a:t>
            </a:r>
            <a:endParaRPr/>
          </a:p>
        </p:txBody>
      </p:sp>
      <p:pic>
        <p:nvPicPr>
          <p:cNvPr descr="A logo with a group of people&#10;&#10;AI-generated content may be incorrect." id="236" name="Google Shape;236;p16"/>
          <p:cNvPicPr preferRelativeResize="0"/>
          <p:nvPr/>
        </p:nvPicPr>
        <p:blipFill rotWithShape="1">
          <a:blip r:embed="rId4">
            <a:alphaModFix/>
          </a:blip>
          <a:srcRect b="11595" l="7194" r="9995" t="15195"/>
          <a:stretch/>
        </p:blipFill>
        <p:spPr>
          <a:xfrm>
            <a:off x="0" y="65757"/>
            <a:ext cx="964005" cy="852236"/>
          </a:xfrm>
          <a:prstGeom prst="rect">
            <a:avLst/>
          </a:prstGeom>
          <a:noFill/>
          <a:ln>
            <a:noFill/>
          </a:ln>
        </p:spPr>
      </p:pic>
      <p:sp>
        <p:nvSpPr>
          <p:cNvPr id="237" name="Google Shape;237;p16"/>
          <p:cNvSpPr txBox="1"/>
          <p:nvPr/>
        </p:nvSpPr>
        <p:spPr>
          <a:xfrm>
            <a:off x="7613964" y="3890950"/>
            <a:ext cx="457803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Tiêu chuẩn Chiều dài cân nặng theo Vinmec như file</a:t>
            </a:r>
            <a:endParaRPr b="0" i="0" sz="1400" u="none" cap="none" strike="noStrike">
              <a:solidFill>
                <a:srgbClr val="000000"/>
              </a:solidFill>
              <a:latin typeface="Arial"/>
              <a:ea typeface="Arial"/>
              <a:cs typeface="Arial"/>
              <a:sym typeface="Arial"/>
            </a:endParaRPr>
          </a:p>
        </p:txBody>
      </p:sp>
      <p:pic>
        <p:nvPicPr>
          <p:cNvPr descr="A screenshot of a cell phone&#10;&#10;AI-generated content may be incorrect." id="238" name="Google Shape;238;p16"/>
          <p:cNvPicPr preferRelativeResize="0"/>
          <p:nvPr/>
        </p:nvPicPr>
        <p:blipFill rotWithShape="1">
          <a:blip r:embed="rId5">
            <a:alphaModFix/>
          </a:blip>
          <a:srcRect b="0" l="0" r="0" t="0"/>
          <a:stretch/>
        </p:blipFill>
        <p:spPr>
          <a:xfrm>
            <a:off x="3980508" y="1108513"/>
            <a:ext cx="2745086" cy="5381374"/>
          </a:xfrm>
          <a:prstGeom prst="rect">
            <a:avLst/>
          </a:prstGeom>
          <a:noFill/>
          <a:ln>
            <a:noFill/>
          </a:ln>
        </p:spPr>
      </p:pic>
      <p:graphicFrame>
        <p:nvGraphicFramePr>
          <p:cNvPr id="239" name="Google Shape;239;p16"/>
          <p:cNvGraphicFramePr/>
          <p:nvPr/>
        </p:nvGraphicFramePr>
        <p:xfrm>
          <a:off x="9679285" y="4360830"/>
          <a:ext cx="914400" cy="771525"/>
        </p:xfrm>
        <a:graphic>
          <a:graphicData uri="http://schemas.openxmlformats.org/presentationml/2006/ole">
            <mc:AlternateContent>
              <mc:Choice Requires="v">
                <p:oleObj r:id="rId6" imgH="771525" imgW="914400" progId="Excel.Sheet.12" spid="_x0000_s1">
                  <p:embed/>
                </p:oleObj>
              </mc:Choice>
              <mc:Fallback>
                <p:oleObj r:id="rId7" imgH="771525" imgW="914400" progId="Excel.Sheet.12">
                  <p:embed/>
                  <p:pic>
                    <p:nvPicPr>
                      <p:cNvPr id="239" name="Google Shape;239;p16"/>
                      <p:cNvPicPr preferRelativeResize="0"/>
                      <p:nvPr/>
                    </p:nvPicPr>
                    <p:blipFill rotWithShape="1">
                      <a:blip r:embed="rId8">
                        <a:alphaModFix/>
                      </a:blip>
                      <a:srcRect b="0" l="0" r="0" t="0"/>
                      <a:stretch/>
                    </p:blipFill>
                    <p:spPr>
                      <a:xfrm>
                        <a:off x="9679285" y="4360830"/>
                        <a:ext cx="914400" cy="771525"/>
                      </a:xfrm>
                      <a:prstGeom prst="rect">
                        <a:avLst/>
                      </a:prstGeom>
                      <a:noFill/>
                      <a:ln>
                        <a:noFill/>
                      </a:ln>
                    </p:spPr>
                  </p:pic>
                </p:oleObj>
              </mc:Fallback>
            </mc:AlternateContent>
          </a:graphicData>
        </a:graphic>
      </p:graphicFrame>
      <p:sp>
        <p:nvSpPr>
          <p:cNvPr id="240" name="Google Shape;240;p16"/>
          <p:cNvSpPr txBox="1"/>
          <p:nvPr/>
        </p:nvSpPr>
        <p:spPr>
          <a:xfrm>
            <a:off x="479834" y="2522368"/>
            <a:ext cx="310533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Chỉnh lại theo thiết kế mới</a:t>
            </a:r>
            <a:endParaRPr b="0" i="0" sz="1400" u="none" cap="none" strike="noStrike">
              <a:solidFill>
                <a:srgbClr val="000000"/>
              </a:solidFill>
              <a:latin typeface="Arial"/>
              <a:ea typeface="Arial"/>
              <a:cs typeface="Arial"/>
              <a:sym typeface="Arial"/>
            </a:endParaRPr>
          </a:p>
        </p:txBody>
      </p:sp>
      <p:graphicFrame>
        <p:nvGraphicFramePr>
          <p:cNvPr id="241" name="Google Shape;241;p16"/>
          <p:cNvGraphicFramePr/>
          <p:nvPr/>
        </p:nvGraphicFramePr>
        <p:xfrm>
          <a:off x="8988581" y="2321271"/>
          <a:ext cx="914400" cy="771525"/>
        </p:xfrm>
        <a:graphic>
          <a:graphicData uri="http://schemas.openxmlformats.org/presentationml/2006/ole">
            <mc:AlternateContent>
              <mc:Choice Requires="v">
                <p:oleObj r:id="rId9" imgH="771525" imgW="914400" progId="Package" spid="_x0000_s2">
                  <p:embed/>
                </p:oleObj>
              </mc:Choice>
              <mc:Fallback>
                <p:oleObj r:id="rId10" imgH="771525" imgW="914400" progId="Package">
                  <p:embed/>
                  <p:pic>
                    <p:nvPicPr>
                      <p:cNvPr id="241" name="Google Shape;241;p16"/>
                      <p:cNvPicPr preferRelativeResize="0"/>
                      <p:nvPr/>
                    </p:nvPicPr>
                    <p:blipFill rotWithShape="1">
                      <a:blip r:embed="rId11">
                        <a:alphaModFix/>
                      </a:blip>
                      <a:srcRect b="0" l="0" r="0" t="0"/>
                      <a:stretch/>
                    </p:blipFill>
                    <p:spPr>
                      <a:xfrm>
                        <a:off x="8988581" y="2321271"/>
                        <a:ext cx="914400" cy="771525"/>
                      </a:xfrm>
                      <a:prstGeom prst="rect">
                        <a:avLst/>
                      </a:prstGeom>
                      <a:noFill/>
                      <a:ln>
                        <a:noFill/>
                      </a:ln>
                    </p:spPr>
                  </p:pic>
                </p:oleObj>
              </mc:Fallback>
            </mc:AlternateContent>
          </a:graphicData>
        </a:graphic>
      </p:graphicFrame>
      <p:sp>
        <p:nvSpPr>
          <p:cNvPr id="242" name="Google Shape;242;p16"/>
          <p:cNvSpPr txBox="1"/>
          <p:nvPr/>
        </p:nvSpPr>
        <p:spPr>
          <a:xfrm>
            <a:off x="8297501" y="1834961"/>
            <a:ext cx="2296184"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Hình SVG thai kỳ</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7"/>
          <p:cNvSpPr txBox="1"/>
          <p:nvPr>
            <p:ph type="ctrTitle"/>
          </p:nvPr>
        </p:nvSpPr>
        <p:spPr>
          <a:xfrm>
            <a:off x="1342930" y="268525"/>
            <a:ext cx="10245506" cy="446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70C0"/>
              </a:buClr>
              <a:buSzPts val="2400"/>
              <a:buFont typeface="Times New Roman"/>
              <a:buNone/>
            </a:pPr>
            <a:r>
              <a:rPr b="1" lang="en-US" sz="2400">
                <a:solidFill>
                  <a:srgbClr val="0070C0"/>
                </a:solidFill>
                <a:latin typeface="Times New Roman"/>
                <a:ea typeface="Times New Roman"/>
                <a:cs typeface="Times New Roman"/>
                <a:sym typeface="Times New Roman"/>
              </a:rPr>
              <a:t>THEO DÕI TIÊM CHỦNG</a:t>
            </a:r>
            <a:endParaRPr/>
          </a:p>
        </p:txBody>
      </p:sp>
      <p:pic>
        <p:nvPicPr>
          <p:cNvPr descr="A logo with a group of people&#10;&#10;AI-generated content may be incorrect." id="248" name="Google Shape;248;p17"/>
          <p:cNvPicPr preferRelativeResize="0"/>
          <p:nvPr/>
        </p:nvPicPr>
        <p:blipFill rotWithShape="1">
          <a:blip r:embed="rId3">
            <a:alphaModFix/>
          </a:blip>
          <a:srcRect b="11595" l="7194" r="9995" t="15195"/>
          <a:stretch/>
        </p:blipFill>
        <p:spPr>
          <a:xfrm>
            <a:off x="0" y="65757"/>
            <a:ext cx="964005" cy="852236"/>
          </a:xfrm>
          <a:prstGeom prst="rect">
            <a:avLst/>
          </a:prstGeom>
          <a:noFill/>
          <a:ln>
            <a:noFill/>
          </a:ln>
        </p:spPr>
      </p:pic>
      <p:sp>
        <p:nvSpPr>
          <p:cNvPr id="249" name="Google Shape;249;p17"/>
          <p:cNvSpPr txBox="1"/>
          <p:nvPr/>
        </p:nvSpPr>
        <p:spPr>
          <a:xfrm>
            <a:off x="7840301" y="5232903"/>
            <a:ext cx="200986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Điểm bình quân:</a:t>
            </a:r>
            <a:endParaRPr b="0" i="0" sz="1400" u="none" cap="none" strike="noStrike">
              <a:solidFill>
                <a:srgbClr val="000000"/>
              </a:solidFill>
              <a:latin typeface="Arial"/>
              <a:ea typeface="Arial"/>
              <a:cs typeface="Arial"/>
              <a:sym typeface="Arial"/>
            </a:endParaRPr>
          </a:p>
        </p:txBody>
      </p:sp>
      <p:sp>
        <p:nvSpPr>
          <p:cNvPr id="250" name="Google Shape;250;p17"/>
          <p:cNvSpPr txBox="1"/>
          <p:nvPr/>
        </p:nvSpPr>
        <p:spPr>
          <a:xfrm>
            <a:off x="570368" y="1152488"/>
            <a:ext cx="10245506" cy="92333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 Hiện trạng: Người dùng thêm Bé là tự động mở sổ tiêm, gây tốn bộ nhớ, khó theo dõi trong CMS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 Giải pháp: Khi nào người dùng chọn Mở sổ tiêm chủng thì mới mở</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Xem app Con Yêu.</a:t>
            </a:r>
            <a:endParaRPr b="0" i="0" sz="1400" u="none" cap="none" strike="noStrike">
              <a:solidFill>
                <a:srgbClr val="000000"/>
              </a:solidFill>
              <a:latin typeface="Arial"/>
              <a:ea typeface="Arial"/>
              <a:cs typeface="Arial"/>
              <a:sym typeface="Arial"/>
            </a:endParaRPr>
          </a:p>
        </p:txBody>
      </p:sp>
      <p:pic>
        <p:nvPicPr>
          <p:cNvPr descr="A screenshot of a phone&#10;&#10;AI-generated content may be incorrect." id="251" name="Google Shape;251;p17"/>
          <p:cNvPicPr preferRelativeResize="0"/>
          <p:nvPr/>
        </p:nvPicPr>
        <p:blipFill rotWithShape="1">
          <a:blip r:embed="rId4">
            <a:alphaModFix/>
          </a:blip>
          <a:srcRect b="0" l="0" r="0" t="0"/>
          <a:stretch/>
        </p:blipFill>
        <p:spPr>
          <a:xfrm>
            <a:off x="8271552" y="2312508"/>
            <a:ext cx="2009869" cy="4357414"/>
          </a:xfrm>
          <a:prstGeom prst="rect">
            <a:avLst/>
          </a:prstGeom>
          <a:noFill/>
          <a:ln>
            <a:noFill/>
          </a:ln>
        </p:spPr>
      </p:pic>
      <p:pic>
        <p:nvPicPr>
          <p:cNvPr descr="A screenshot of a green screen&#10;&#10;AI-generated content may be incorrect." id="252" name="Google Shape;252;p17"/>
          <p:cNvPicPr preferRelativeResize="0"/>
          <p:nvPr/>
        </p:nvPicPr>
        <p:blipFill rotWithShape="1">
          <a:blip r:embed="rId5">
            <a:alphaModFix/>
          </a:blip>
          <a:srcRect b="0" l="0" r="0" t="0"/>
          <a:stretch/>
        </p:blipFill>
        <p:spPr>
          <a:xfrm>
            <a:off x="5250711" y="2325516"/>
            <a:ext cx="2009869" cy="435741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8"/>
          <p:cNvSpPr txBox="1"/>
          <p:nvPr>
            <p:ph type="ctrTitle"/>
          </p:nvPr>
        </p:nvSpPr>
        <p:spPr>
          <a:xfrm>
            <a:off x="1342930" y="268525"/>
            <a:ext cx="10245506" cy="446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70C0"/>
              </a:buClr>
              <a:buSzPts val="2400"/>
              <a:buFont typeface="Times New Roman"/>
              <a:buNone/>
            </a:pPr>
            <a:r>
              <a:rPr b="1" lang="en-US" sz="2400">
                <a:solidFill>
                  <a:srgbClr val="0070C0"/>
                </a:solidFill>
                <a:latin typeface="Times New Roman"/>
                <a:ea typeface="Times New Roman"/>
                <a:cs typeface="Times New Roman"/>
                <a:sym typeface="Times New Roman"/>
              </a:rPr>
              <a:t>HỌC BẠ ĐIỆN TỬ</a:t>
            </a:r>
            <a:endParaRPr/>
          </a:p>
        </p:txBody>
      </p:sp>
      <p:pic>
        <p:nvPicPr>
          <p:cNvPr descr="A logo with a group of people&#10;&#10;AI-generated content may be incorrect." id="258" name="Google Shape;258;p18"/>
          <p:cNvPicPr preferRelativeResize="0"/>
          <p:nvPr/>
        </p:nvPicPr>
        <p:blipFill rotWithShape="1">
          <a:blip r:embed="rId3">
            <a:alphaModFix/>
          </a:blip>
          <a:srcRect b="11595" l="7194" r="9995" t="15195"/>
          <a:stretch/>
        </p:blipFill>
        <p:spPr>
          <a:xfrm>
            <a:off x="0" y="65757"/>
            <a:ext cx="964005" cy="852236"/>
          </a:xfrm>
          <a:prstGeom prst="rect">
            <a:avLst/>
          </a:prstGeom>
          <a:noFill/>
          <a:ln>
            <a:noFill/>
          </a:ln>
        </p:spPr>
      </p:pic>
      <p:sp>
        <p:nvSpPr>
          <p:cNvPr id="259" name="Google Shape;259;p18"/>
          <p:cNvSpPr txBox="1"/>
          <p:nvPr/>
        </p:nvSpPr>
        <p:spPr>
          <a:xfrm>
            <a:off x="7840301" y="5232903"/>
            <a:ext cx="200986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Điểm bình quân:</a:t>
            </a:r>
            <a:endParaRPr b="0" i="0" sz="1400" u="none" cap="none" strike="noStrike">
              <a:solidFill>
                <a:srgbClr val="000000"/>
              </a:solidFill>
              <a:latin typeface="Arial"/>
              <a:ea typeface="Arial"/>
              <a:cs typeface="Arial"/>
              <a:sym typeface="Arial"/>
            </a:endParaRPr>
          </a:p>
        </p:txBody>
      </p:sp>
      <p:pic>
        <p:nvPicPr>
          <p:cNvPr id="260" name="Google Shape;260;p18"/>
          <p:cNvPicPr preferRelativeResize="0"/>
          <p:nvPr/>
        </p:nvPicPr>
        <p:blipFill rotWithShape="1">
          <a:blip r:embed="rId4">
            <a:alphaModFix/>
          </a:blip>
          <a:srcRect b="0" l="0" r="0" t="0"/>
          <a:stretch/>
        </p:blipFill>
        <p:spPr>
          <a:xfrm>
            <a:off x="1506727" y="917993"/>
            <a:ext cx="2946277" cy="5554301"/>
          </a:xfrm>
          <a:prstGeom prst="rect">
            <a:avLst/>
          </a:prstGeom>
          <a:noFill/>
          <a:ln>
            <a:noFill/>
          </a:ln>
        </p:spPr>
      </p:pic>
      <p:sp>
        <p:nvSpPr>
          <p:cNvPr id="261" name="Google Shape;261;p18"/>
          <p:cNvSpPr txBox="1"/>
          <p:nvPr/>
        </p:nvSpPr>
        <p:spPr>
          <a:xfrm>
            <a:off x="2897109" y="2317687"/>
            <a:ext cx="1439502" cy="307777"/>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Hình bảng điểm</a:t>
            </a:r>
            <a:endParaRPr b="0" i="0" sz="1400" u="none" cap="none" strike="noStrike">
              <a:solidFill>
                <a:srgbClr val="000000"/>
              </a:solidFill>
              <a:latin typeface="Arial"/>
              <a:ea typeface="Arial"/>
              <a:cs typeface="Arial"/>
              <a:sym typeface="Arial"/>
            </a:endParaRPr>
          </a:p>
        </p:txBody>
      </p:sp>
      <p:sp>
        <p:nvSpPr>
          <p:cNvPr id="262" name="Google Shape;262;p18"/>
          <p:cNvSpPr txBox="1"/>
          <p:nvPr/>
        </p:nvSpPr>
        <p:spPr>
          <a:xfrm>
            <a:off x="4995714" y="790727"/>
            <a:ext cx="6649800" cy="17547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Cho phép người dùng up và xem hình bảng điểm theo học kỳ và cả năm.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Điểm cả năm tính tự động:</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Lớp : 1-5: Điểm cả năm môn = điểm HK 2, tự động copy xong, người dùng có thể sửa và thêm nhận xét trước khi lưu(cảnh báo họ xem và lưu)</a:t>
            </a:r>
            <a:endParaRPr b="0" i="0" sz="1400" u="none" cap="none" strike="noStrike">
              <a:solidFill>
                <a:srgbClr val="000000"/>
              </a:solidFill>
              <a:latin typeface="Arial"/>
              <a:ea typeface="Arial"/>
              <a:cs typeface="Arial"/>
              <a:sym typeface="Arial"/>
            </a:endParaRPr>
          </a:p>
        </p:txBody>
      </p:sp>
      <p:sp>
        <p:nvSpPr>
          <p:cNvPr id="263" name="Google Shape;263;p18"/>
          <p:cNvSpPr/>
          <p:nvPr/>
        </p:nvSpPr>
        <p:spPr>
          <a:xfrm>
            <a:off x="4938625" y="2625475"/>
            <a:ext cx="6649800" cy="3846900"/>
          </a:xfrm>
          <a:prstGeom prst="rect">
            <a:avLst/>
          </a:prstGeom>
          <a:noFill/>
          <a:ln cap="flat" cmpd="sng" w="9525">
            <a:solidFill>
              <a:schemeClr val="dk1"/>
            </a:solidFill>
            <a:prstDash val="solid"/>
            <a:miter lim="80"/>
            <a:headEnd len="sm" w="sm" type="none"/>
            <a:tailEnd len="sm" w="sm" type="none"/>
          </a:ln>
        </p:spPr>
        <p:txBody>
          <a:bodyPr anchorCtr="0" anchor="ctr" bIns="0" lIns="0" spcFirstLastPara="1" rIns="0" wrap="square" tIns="0">
            <a:spAutoFit/>
          </a:bodyPr>
          <a:lstStyle/>
          <a:p>
            <a:pPr indent="0" lvl="0" marL="0" marR="0" rtl="0" algn="l">
              <a:lnSpc>
                <a:spcPct val="150000"/>
              </a:lnSpc>
              <a:spcBef>
                <a:spcPts val="0"/>
              </a:spcBef>
              <a:spcAft>
                <a:spcPts val="0"/>
              </a:spcAft>
              <a:buClr>
                <a:schemeClr val="dk1"/>
              </a:buClr>
              <a:buSzPts val="1400"/>
              <a:buFont typeface="Play"/>
              <a:buNone/>
            </a:pPr>
            <a:r>
              <a:rPr b="1" i="0" lang="en-US" sz="1400" u="none" cap="none" strike="noStrike">
                <a:solidFill>
                  <a:schemeClr val="dk1"/>
                </a:solidFill>
                <a:latin typeface="Play"/>
                <a:ea typeface="Play"/>
                <a:cs typeface="Play"/>
                <a:sym typeface="Play"/>
              </a:rPr>
              <a:t>Các Mức Xếp Loại Học Sinh (Cuối năm/năm học) Lớp 1-5</a:t>
            </a:r>
            <a:endParaRPr b="0" i="0" sz="900" u="none" cap="none" strike="noStrike">
              <a:solidFill>
                <a:schemeClr val="dk1"/>
              </a:solidFill>
              <a:latin typeface="Play"/>
              <a:ea typeface="Play"/>
              <a:cs typeface="Play"/>
              <a:sym typeface="Play"/>
            </a:endParaRPr>
          </a:p>
          <a:p>
            <a:pPr indent="0" lvl="0" marL="0" marR="0" rtl="0" algn="l">
              <a:lnSpc>
                <a:spcPct val="150000"/>
              </a:lnSpc>
              <a:spcBef>
                <a:spcPts val="0"/>
              </a:spcBef>
              <a:spcAft>
                <a:spcPts val="0"/>
              </a:spcAft>
              <a:buClr>
                <a:schemeClr val="dk1"/>
              </a:buClr>
              <a:buSzPts val="1400"/>
              <a:buFont typeface="Play"/>
              <a:buChar char="•"/>
            </a:pPr>
            <a:r>
              <a:rPr b="1" i="0" lang="en-US" sz="1400" u="none" cap="none" strike="noStrike">
                <a:solidFill>
                  <a:schemeClr val="dk1"/>
                </a:solidFill>
                <a:latin typeface="Play"/>
                <a:ea typeface="Play"/>
                <a:cs typeface="Play"/>
                <a:sym typeface="Play"/>
              </a:rPr>
              <a:t>Hoàn thành xuất sắc:</a:t>
            </a:r>
            <a:r>
              <a:rPr b="0" i="0" lang="en-US" sz="1400" u="none" cap="none" strike="noStrike">
                <a:solidFill>
                  <a:schemeClr val="dk1"/>
                </a:solidFill>
                <a:latin typeface="Play"/>
                <a:ea typeface="Play"/>
                <a:cs typeface="Play"/>
                <a:sym typeface="Play"/>
              </a:rPr>
              <a:t> Các môn học, hoạt động giáo dục đạt mức Hoàn thành tốt; các phẩm chất, năng lực đạt mức Tốt; bài kiểm tra định kỳ cuối năm đạt 9 điểm trở lên.</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400"/>
              <a:buFont typeface="Play"/>
              <a:buChar char="•"/>
            </a:pPr>
            <a:r>
              <a:rPr b="1" i="0" lang="en-US" sz="1400" u="none" cap="none" strike="noStrike">
                <a:solidFill>
                  <a:schemeClr val="dk1"/>
                </a:solidFill>
                <a:latin typeface="Play"/>
                <a:ea typeface="Play"/>
                <a:cs typeface="Play"/>
                <a:sym typeface="Play"/>
              </a:rPr>
              <a:t>Hoàn thành tốt:</a:t>
            </a:r>
            <a:r>
              <a:rPr b="0" i="0" lang="en-US" sz="1400" u="none" cap="none" strike="noStrike">
                <a:solidFill>
                  <a:schemeClr val="dk1"/>
                </a:solidFill>
                <a:latin typeface="Play"/>
                <a:ea typeface="Play"/>
                <a:cs typeface="Play"/>
                <a:sym typeface="Play"/>
              </a:rPr>
              <a:t> Các môn học, hoạt động giáo dục đạt mức Hoàn thành tốt; các phẩm chất, năng lực đạt mức Tốt; bài kiểm tra định kỳ cuối năm đạt từ 7 đến 8 điểm.</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400"/>
              <a:buFont typeface="Play"/>
              <a:buChar char="•"/>
            </a:pPr>
            <a:r>
              <a:rPr b="1" i="0" lang="en-US" sz="1400" u="none" cap="none" strike="noStrike">
                <a:solidFill>
                  <a:schemeClr val="dk1"/>
                </a:solidFill>
                <a:latin typeface="Play"/>
                <a:ea typeface="Play"/>
                <a:cs typeface="Play"/>
                <a:sym typeface="Play"/>
              </a:rPr>
              <a:t>Hoàn thành:</a:t>
            </a:r>
            <a:r>
              <a:rPr b="0" i="0" lang="en-US" sz="1400" u="none" cap="none" strike="noStrike">
                <a:solidFill>
                  <a:schemeClr val="dk1"/>
                </a:solidFill>
                <a:latin typeface="Play"/>
                <a:ea typeface="Play"/>
                <a:cs typeface="Play"/>
                <a:sym typeface="Play"/>
              </a:rPr>
              <a:t> Các môn học, hoạt động giáo dục đạt mức Hoàn thành/Hoàn thành tốt; các phẩm chất, năng lực đạt mức Đạt/Tốt; bài kiểm tra định kỳ cuối năm đạt từ 5 đến 6 điểm.</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400"/>
              <a:buFont typeface="Play"/>
              <a:buChar char="•"/>
            </a:pPr>
            <a:r>
              <a:rPr b="1" i="0" lang="en-US" sz="1400" u="none" cap="none" strike="noStrike">
                <a:solidFill>
                  <a:schemeClr val="dk1"/>
                </a:solidFill>
                <a:latin typeface="Play"/>
                <a:ea typeface="Play"/>
                <a:cs typeface="Play"/>
                <a:sym typeface="Play"/>
              </a:rPr>
              <a:t>Chưa hoàn thành:</a:t>
            </a:r>
            <a:r>
              <a:rPr b="0" i="0" lang="en-US" sz="1400" u="none" cap="none" strike="noStrike">
                <a:solidFill>
                  <a:schemeClr val="dk1"/>
                </a:solidFill>
                <a:latin typeface="Play"/>
                <a:ea typeface="Play"/>
                <a:cs typeface="Play"/>
                <a:sym typeface="Play"/>
              </a:rPr>
              <a:t> Các môn học, hoạt động giáo dục, phẩm chất, năng lực hoặc bài kiểm tra định kỳ cuối năm không đạt các mức trên.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9"/>
          <p:cNvSpPr txBox="1"/>
          <p:nvPr>
            <p:ph type="ctrTitle"/>
          </p:nvPr>
        </p:nvSpPr>
        <p:spPr>
          <a:xfrm>
            <a:off x="1342930" y="268525"/>
            <a:ext cx="10245506" cy="446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70C0"/>
              </a:buClr>
              <a:buSzPts val="2400"/>
              <a:buFont typeface="Times New Roman"/>
              <a:buNone/>
            </a:pPr>
            <a:r>
              <a:rPr b="1" lang="en-US" sz="2400">
                <a:solidFill>
                  <a:srgbClr val="0070C0"/>
                </a:solidFill>
                <a:latin typeface="Times New Roman"/>
                <a:ea typeface="Times New Roman"/>
                <a:cs typeface="Times New Roman"/>
                <a:sym typeface="Times New Roman"/>
              </a:rPr>
              <a:t>HỌC BẠ ĐIỆN TỬ LỚP 6 TRỞ LÊN</a:t>
            </a:r>
            <a:endParaRPr/>
          </a:p>
        </p:txBody>
      </p:sp>
      <p:pic>
        <p:nvPicPr>
          <p:cNvPr descr="A logo with a group of people&#10;&#10;AI-generated content may be incorrect." id="269" name="Google Shape;269;p19"/>
          <p:cNvPicPr preferRelativeResize="0"/>
          <p:nvPr/>
        </p:nvPicPr>
        <p:blipFill rotWithShape="1">
          <a:blip r:embed="rId3">
            <a:alphaModFix/>
          </a:blip>
          <a:srcRect b="11595" l="7194" r="9995" t="15195"/>
          <a:stretch/>
        </p:blipFill>
        <p:spPr>
          <a:xfrm>
            <a:off x="0" y="65757"/>
            <a:ext cx="964005" cy="852236"/>
          </a:xfrm>
          <a:prstGeom prst="rect">
            <a:avLst/>
          </a:prstGeom>
          <a:noFill/>
          <a:ln>
            <a:noFill/>
          </a:ln>
        </p:spPr>
      </p:pic>
      <p:sp>
        <p:nvSpPr>
          <p:cNvPr id="270" name="Google Shape;270;p19"/>
          <p:cNvSpPr txBox="1"/>
          <p:nvPr/>
        </p:nvSpPr>
        <p:spPr>
          <a:xfrm>
            <a:off x="7840301" y="5232903"/>
            <a:ext cx="200986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Điểm bình quân:</a:t>
            </a:r>
            <a:endParaRPr b="0" i="0" sz="1400" u="none" cap="none" strike="noStrike">
              <a:solidFill>
                <a:srgbClr val="000000"/>
              </a:solidFill>
              <a:latin typeface="Arial"/>
              <a:ea typeface="Arial"/>
              <a:cs typeface="Arial"/>
              <a:sym typeface="Arial"/>
            </a:endParaRPr>
          </a:p>
        </p:txBody>
      </p:sp>
      <p:sp>
        <p:nvSpPr>
          <p:cNvPr id="271" name="Google Shape;271;p19"/>
          <p:cNvSpPr txBox="1"/>
          <p:nvPr/>
        </p:nvSpPr>
        <p:spPr>
          <a:xfrm>
            <a:off x="2652664" y="715225"/>
            <a:ext cx="8196406" cy="1477328"/>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Điểm số cả năm môn = (HK2*2+HK1)/3, tự động tính xong, người dùng có thể sửa và thêm nhận xét  trước khi lưu(cảnh báo họ xem và lưu)</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Điểm chữ cả năm = điểm chữ HK2</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Điểm chữ HK và cả năm:  Đạt(Đ), Chưa đạt(CĐ) (</a:t>
            </a:r>
            <a:r>
              <a:rPr b="0" i="1" lang="en-US" sz="1800" u="none" cap="none" strike="noStrike">
                <a:solidFill>
                  <a:schemeClr val="dk1"/>
                </a:solidFill>
                <a:latin typeface="Arial"/>
                <a:ea typeface="Arial"/>
                <a:cs typeface="Arial"/>
                <a:sym typeface="Arial"/>
              </a:rPr>
              <a:t>Khác với tiểu học</a:t>
            </a:r>
            <a:r>
              <a:rPr b="0" i="0" lang="en-US" sz="18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Điểm số thì không còn điểm chữ</a:t>
            </a:r>
            <a:endParaRPr b="0" i="0" sz="1400" u="none" cap="none" strike="noStrike">
              <a:solidFill>
                <a:srgbClr val="000000"/>
              </a:solidFill>
              <a:latin typeface="Arial"/>
              <a:ea typeface="Arial"/>
              <a:cs typeface="Arial"/>
              <a:sym typeface="Arial"/>
            </a:endParaRPr>
          </a:p>
        </p:txBody>
      </p:sp>
      <p:sp>
        <p:nvSpPr>
          <p:cNvPr id="272" name="Google Shape;272;p19"/>
          <p:cNvSpPr txBox="1"/>
          <p:nvPr/>
        </p:nvSpPr>
        <p:spPr>
          <a:xfrm>
            <a:off x="190123" y="2162761"/>
            <a:ext cx="11811754" cy="46166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Kết quả học tập trong từng học kì, cả năm học</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Đối với môn học đánh giá bằng nhận xét kết hợp đánh giá bằng điểm số, ĐTBmhk được sử dụng để đánh giá kết quả học tập của học sinh trong từng học kì, ĐTBmcn được sử dụng để đánh giá kết quả học tập của học sinh trong cả năm học. Kết quả học tập của học sinh trong từng học kì và cả năm học được đánh giá theo 01 (một) trong 04 (bốn) mức: </a:t>
            </a:r>
            <a:r>
              <a:rPr b="1" i="0" lang="en-US" sz="1400" u="none" cap="none" strike="noStrike">
                <a:solidFill>
                  <a:schemeClr val="dk1"/>
                </a:solidFill>
                <a:latin typeface="Arial"/>
                <a:ea typeface="Arial"/>
                <a:cs typeface="Arial"/>
                <a:sym typeface="Arial"/>
              </a:rPr>
              <a:t>Tốt, Khá, Đạt, Chưa đạt.</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 Mức Tốt:</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 Tất cả các môn học đánh giá bằng nhận xét được đánh giá mức Đạt.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 Tất cả các môn học đánh giá bằng nhận xét kết hợp đánh giá bằng điểm số có ĐTBmhk, ĐTBmcn từ 6,5 điểm trở lên, trong đó có ít nhất 06 môn học có ĐTBmhk, ĐTBmcn đạt từ 8,0 điểm trở lên.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 Mức Khá:</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 Tất cả các môn học đánh giá bằng nhận xét được đánh giá mức Đạt.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 Tất cả các môn học đánh giá bằng nhận xét kết hợp đánh giá bằng điểm số có ĐTBmhk, ĐTBmcn từ 5,0 điểm trở lên, trong đó có ít nhất 06 môn học có ĐTBmhk, ĐTBmcn đạt từ 6,5 điểm trở lên.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 Mức Đạt:</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 Có nhiều nhất 01 (một) môn học đánh giá bằng nhận xét được đánh giá mức Chưa đạt.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 Có ít nhất 06 (sáu) môn học đánh giá bằng nhận xét kết hợp đánh giá bằng điểm số có ĐTBmhk, ĐTBmcn từ 5,0 điểm trở lên; không có môn học nào có ĐTBmhk, ĐTBmcn dưới 3,5 điểm.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 Mức Chưa đạt: </a:t>
            </a:r>
            <a:r>
              <a:rPr b="0" i="0" lang="en-US" sz="1400" u="none" cap="none" strike="noStrike">
                <a:solidFill>
                  <a:schemeClr val="dk1"/>
                </a:solidFill>
                <a:latin typeface="Arial"/>
                <a:ea typeface="Arial"/>
                <a:cs typeface="Arial"/>
                <a:sym typeface="Arial"/>
              </a:rPr>
              <a:t>Các trường hợp còn lại.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Lưu ý:</a:t>
            </a:r>
            <a:r>
              <a:rPr b="0" i="0" lang="en-US" sz="1400" u="none" cap="none" strike="noStrike">
                <a:solidFill>
                  <a:schemeClr val="dk1"/>
                </a:solidFill>
                <a:latin typeface="Arial"/>
                <a:ea typeface="Arial"/>
                <a:cs typeface="Arial"/>
                <a:sym typeface="Arial"/>
              </a:rPr>
              <a:t> Điều chỉnh mức đánh giá kết quả học tập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Nếu mức đánh giá kết quả học tập của học kì, cả năm học bị thấp xuống từ 02 (hai) mức trở lên so với mức đánh giá quy định tại điểm a, điểm b khoản 2 Điều 9 Thông tư 22/2021/TT-BGDĐT chỉ do kết quả đánh giá của duy nhất 01 (một) môn học thì mức đánh giá kết quả học tập của học kì đó, cả năm học đó được điều chỉnh lên mức liền kề.</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0"/>
          <p:cNvSpPr txBox="1"/>
          <p:nvPr>
            <p:ph type="ctrTitle"/>
          </p:nvPr>
        </p:nvSpPr>
        <p:spPr>
          <a:xfrm>
            <a:off x="1342930" y="268525"/>
            <a:ext cx="10245506" cy="446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70C0"/>
              </a:buClr>
              <a:buSzPts val="2400"/>
              <a:buFont typeface="Times New Roman"/>
              <a:buNone/>
            </a:pPr>
            <a:r>
              <a:rPr b="1" lang="en-US" sz="2400">
                <a:solidFill>
                  <a:srgbClr val="0070C0"/>
                </a:solidFill>
                <a:latin typeface="Times New Roman"/>
                <a:ea typeface="Times New Roman"/>
                <a:cs typeface="Times New Roman"/>
                <a:sym typeface="Times New Roman"/>
              </a:rPr>
              <a:t>HỌC BẠ ĐIỆN TỬ</a:t>
            </a:r>
            <a:endParaRPr/>
          </a:p>
        </p:txBody>
      </p:sp>
      <p:pic>
        <p:nvPicPr>
          <p:cNvPr descr="A logo with a group of people&#10;&#10;AI-generated content may be incorrect." id="278" name="Google Shape;278;p20"/>
          <p:cNvPicPr preferRelativeResize="0"/>
          <p:nvPr/>
        </p:nvPicPr>
        <p:blipFill rotWithShape="1">
          <a:blip r:embed="rId3">
            <a:alphaModFix/>
          </a:blip>
          <a:srcRect b="11595" l="7194" r="9995" t="15195"/>
          <a:stretch/>
        </p:blipFill>
        <p:spPr>
          <a:xfrm>
            <a:off x="0" y="65757"/>
            <a:ext cx="964005" cy="852236"/>
          </a:xfrm>
          <a:prstGeom prst="rect">
            <a:avLst/>
          </a:prstGeom>
          <a:noFill/>
          <a:ln>
            <a:noFill/>
          </a:ln>
        </p:spPr>
      </p:pic>
      <p:sp>
        <p:nvSpPr>
          <p:cNvPr id="279" name="Google Shape;279;p20"/>
          <p:cNvSpPr txBox="1"/>
          <p:nvPr/>
        </p:nvSpPr>
        <p:spPr>
          <a:xfrm>
            <a:off x="7840301" y="5232903"/>
            <a:ext cx="200986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Điểm bình quân:</a:t>
            </a:r>
            <a:endParaRPr b="0" i="0" sz="1400" u="none" cap="none" strike="noStrike">
              <a:solidFill>
                <a:srgbClr val="000000"/>
              </a:solidFill>
              <a:latin typeface="Arial"/>
              <a:ea typeface="Arial"/>
              <a:cs typeface="Arial"/>
              <a:sym typeface="Arial"/>
            </a:endParaRPr>
          </a:p>
        </p:txBody>
      </p:sp>
      <p:pic>
        <p:nvPicPr>
          <p:cNvPr id="280" name="Google Shape;280;p20"/>
          <p:cNvPicPr preferRelativeResize="0"/>
          <p:nvPr/>
        </p:nvPicPr>
        <p:blipFill rotWithShape="1">
          <a:blip r:embed="rId4">
            <a:alphaModFix/>
          </a:blip>
          <a:srcRect b="5743" l="0" r="0" t="0"/>
          <a:stretch/>
        </p:blipFill>
        <p:spPr>
          <a:xfrm>
            <a:off x="6305550" y="917993"/>
            <a:ext cx="4400550" cy="5530432"/>
          </a:xfrm>
          <a:prstGeom prst="rect">
            <a:avLst/>
          </a:prstGeom>
          <a:noFill/>
          <a:ln>
            <a:noFill/>
          </a:ln>
        </p:spPr>
      </p:pic>
      <p:sp>
        <p:nvSpPr>
          <p:cNvPr id="281" name="Google Shape;281;p20"/>
          <p:cNvSpPr txBox="1"/>
          <p:nvPr/>
        </p:nvSpPr>
        <p:spPr>
          <a:xfrm>
            <a:off x="653359" y="917993"/>
            <a:ext cx="4924425" cy="175432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Hiện trạng: Điểm môn học gồm điểm số và điểm chữ</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Bổ sung: thêm nhận xét bằng Text cho mỗi môn học. Xem hình bản điểm bên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Bổ sung Dashboard tổng hợp mỗi cấp: TH, THCS, THPT</a:t>
            </a:r>
            <a:endParaRPr b="0" i="0" sz="1400" u="none" cap="none" strike="noStrike">
              <a:solidFill>
                <a:srgbClr val="000000"/>
              </a:solidFill>
              <a:latin typeface="Arial"/>
              <a:ea typeface="Arial"/>
              <a:cs typeface="Arial"/>
              <a:sym typeface="Arial"/>
            </a:endParaRPr>
          </a:p>
        </p:txBody>
      </p:sp>
      <p:pic>
        <p:nvPicPr>
          <p:cNvPr id="282" name="Google Shape;282;p20"/>
          <p:cNvPicPr preferRelativeResize="0"/>
          <p:nvPr/>
        </p:nvPicPr>
        <p:blipFill rotWithShape="1">
          <a:blip r:embed="rId5">
            <a:alphaModFix/>
          </a:blip>
          <a:srcRect b="0" l="0" r="0" t="0"/>
          <a:stretch/>
        </p:blipFill>
        <p:spPr>
          <a:xfrm>
            <a:off x="808250" y="649489"/>
            <a:ext cx="6247576" cy="5371675"/>
          </a:xfrm>
          <a:prstGeom prst="rect">
            <a:avLst/>
          </a:prstGeom>
          <a:noFill/>
          <a:ln>
            <a:noFill/>
          </a:ln>
        </p:spPr>
      </p:pic>
      <p:pic>
        <p:nvPicPr>
          <p:cNvPr id="283" name="Google Shape;283;p20"/>
          <p:cNvPicPr preferRelativeResize="0"/>
          <p:nvPr/>
        </p:nvPicPr>
        <p:blipFill rotWithShape="1">
          <a:blip r:embed="rId6">
            <a:alphaModFix/>
          </a:blip>
          <a:srcRect b="0" l="0" r="0" t="0"/>
          <a:stretch/>
        </p:blipFill>
        <p:spPr>
          <a:xfrm>
            <a:off x="7840301" y="65750"/>
            <a:ext cx="3920824" cy="3751026"/>
          </a:xfrm>
          <a:prstGeom prst="rect">
            <a:avLst/>
          </a:prstGeom>
          <a:noFill/>
          <a:ln>
            <a:noFill/>
          </a:ln>
        </p:spPr>
      </p:pic>
      <p:pic>
        <p:nvPicPr>
          <p:cNvPr id="284" name="Google Shape;284;p20"/>
          <p:cNvPicPr preferRelativeResize="0"/>
          <p:nvPr/>
        </p:nvPicPr>
        <p:blipFill rotWithShape="1">
          <a:blip r:embed="rId7">
            <a:alphaModFix/>
          </a:blip>
          <a:srcRect b="0" l="0" r="0" t="0"/>
          <a:stretch/>
        </p:blipFill>
        <p:spPr>
          <a:xfrm>
            <a:off x="9062286" y="3350975"/>
            <a:ext cx="2108509" cy="279027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1"/>
          <p:cNvSpPr txBox="1"/>
          <p:nvPr>
            <p:ph type="ctrTitle"/>
          </p:nvPr>
        </p:nvSpPr>
        <p:spPr>
          <a:xfrm>
            <a:off x="1342930" y="268525"/>
            <a:ext cx="10245506" cy="446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70C0"/>
              </a:buClr>
              <a:buSzPts val="2400"/>
              <a:buFont typeface="Times New Roman"/>
              <a:buNone/>
            </a:pPr>
            <a:r>
              <a:rPr b="1" lang="en-US" sz="2400">
                <a:solidFill>
                  <a:srgbClr val="0070C0"/>
                </a:solidFill>
                <a:latin typeface="Times New Roman"/>
                <a:ea typeface="Times New Roman"/>
                <a:cs typeface="Times New Roman"/>
                <a:sym typeface="Times New Roman"/>
              </a:rPr>
              <a:t>TẠO TÀI KHOẢN CHO CON</a:t>
            </a:r>
            <a:endParaRPr/>
          </a:p>
        </p:txBody>
      </p:sp>
      <p:pic>
        <p:nvPicPr>
          <p:cNvPr descr="A logo with a group of people&#10;&#10;AI-generated content may be incorrect." id="290" name="Google Shape;290;p21"/>
          <p:cNvPicPr preferRelativeResize="0"/>
          <p:nvPr/>
        </p:nvPicPr>
        <p:blipFill rotWithShape="1">
          <a:blip r:embed="rId3">
            <a:alphaModFix/>
          </a:blip>
          <a:srcRect b="11595" l="7194" r="9995" t="15195"/>
          <a:stretch/>
        </p:blipFill>
        <p:spPr>
          <a:xfrm>
            <a:off x="0" y="65757"/>
            <a:ext cx="964005" cy="852236"/>
          </a:xfrm>
          <a:prstGeom prst="rect">
            <a:avLst/>
          </a:prstGeom>
          <a:noFill/>
          <a:ln>
            <a:noFill/>
          </a:ln>
        </p:spPr>
      </p:pic>
      <p:sp>
        <p:nvSpPr>
          <p:cNvPr id="291" name="Google Shape;291;p21"/>
          <p:cNvSpPr txBox="1"/>
          <p:nvPr/>
        </p:nvSpPr>
        <p:spPr>
          <a:xfrm>
            <a:off x="7840301" y="5232903"/>
            <a:ext cx="200986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Điểm bình quân:</a:t>
            </a:r>
            <a:endParaRPr b="0" i="0" sz="1400" u="none" cap="none" strike="noStrike">
              <a:solidFill>
                <a:srgbClr val="000000"/>
              </a:solidFill>
              <a:latin typeface="Arial"/>
              <a:ea typeface="Arial"/>
              <a:cs typeface="Arial"/>
              <a:sym typeface="Arial"/>
            </a:endParaRPr>
          </a:p>
        </p:txBody>
      </p:sp>
      <p:sp>
        <p:nvSpPr>
          <p:cNvPr id="292" name="Google Shape;292;p21"/>
          <p:cNvSpPr txBox="1"/>
          <p:nvPr/>
        </p:nvSpPr>
        <p:spPr>
          <a:xfrm>
            <a:off x="964000" y="918001"/>
            <a:ext cx="9189300" cy="17547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Hiện trạng: “ Thêm bé” nghe chưa hay lắm</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chuyển thành “Tạo hồ sơ cho con” ở 3 vị trí có chữ “Thêm bé”</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Lần đầu người dùng đăng nhập THÌ vào thẳng “Tạo hồ sơ cho con”, các lần đăng nhập sau chuyển vào màn hình Tổng quan năng lực chính.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 Sau khi tạo hồ sơ cho con, bấm lưu thông tin, chuyển thẳng đến “Hướng dẫn sử dụng app”</a:t>
            </a:r>
            <a:endParaRPr b="0" i="0" sz="1800" u="none" cap="none" strike="noStrike">
              <a:solidFill>
                <a:schemeClr val="dk1"/>
              </a:solidFill>
              <a:latin typeface="Arial"/>
              <a:ea typeface="Arial"/>
              <a:cs typeface="Arial"/>
              <a:sym typeface="Arial"/>
            </a:endParaRPr>
          </a:p>
        </p:txBody>
      </p:sp>
      <p:pic>
        <p:nvPicPr>
          <p:cNvPr descr="A screenshot of a phone&#10;&#10;AI-generated content may be incorrect." id="293" name="Google Shape;293;p21"/>
          <p:cNvPicPr preferRelativeResize="0"/>
          <p:nvPr/>
        </p:nvPicPr>
        <p:blipFill rotWithShape="1">
          <a:blip r:embed="rId4">
            <a:alphaModFix/>
          </a:blip>
          <a:srcRect b="0" l="0" r="0" t="0"/>
          <a:stretch/>
        </p:blipFill>
        <p:spPr>
          <a:xfrm>
            <a:off x="7629820" y="2917486"/>
            <a:ext cx="1849158" cy="37625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2"/>
          <p:cNvSpPr txBox="1"/>
          <p:nvPr>
            <p:ph type="ctrTitle"/>
          </p:nvPr>
        </p:nvSpPr>
        <p:spPr>
          <a:xfrm>
            <a:off x="1342930" y="268525"/>
            <a:ext cx="10245506" cy="446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70C0"/>
              </a:buClr>
              <a:buSzPts val="2400"/>
              <a:buFont typeface="Times New Roman"/>
              <a:buNone/>
            </a:pPr>
            <a:r>
              <a:rPr b="1" lang="en-US" sz="2400">
                <a:solidFill>
                  <a:srgbClr val="0070C0"/>
                </a:solidFill>
                <a:latin typeface="Times New Roman"/>
                <a:ea typeface="Times New Roman"/>
                <a:cs typeface="Times New Roman"/>
                <a:sym typeface="Times New Roman"/>
              </a:rPr>
              <a:t>HẠN CHẾ FREE USER</a:t>
            </a:r>
            <a:endParaRPr/>
          </a:p>
        </p:txBody>
      </p:sp>
      <p:pic>
        <p:nvPicPr>
          <p:cNvPr descr="A logo with a group of people&#10;&#10;AI-generated content may be incorrect." id="299" name="Google Shape;299;p22"/>
          <p:cNvPicPr preferRelativeResize="0"/>
          <p:nvPr/>
        </p:nvPicPr>
        <p:blipFill rotWithShape="1">
          <a:blip r:embed="rId3">
            <a:alphaModFix/>
          </a:blip>
          <a:srcRect b="11595" l="7194" r="9995" t="15195"/>
          <a:stretch/>
        </p:blipFill>
        <p:spPr>
          <a:xfrm>
            <a:off x="0" y="65757"/>
            <a:ext cx="964005" cy="852236"/>
          </a:xfrm>
          <a:prstGeom prst="rect">
            <a:avLst/>
          </a:prstGeom>
          <a:noFill/>
          <a:ln>
            <a:noFill/>
          </a:ln>
        </p:spPr>
      </p:pic>
      <p:sp>
        <p:nvSpPr>
          <p:cNvPr id="300" name="Google Shape;300;p22"/>
          <p:cNvSpPr txBox="1"/>
          <p:nvPr/>
        </p:nvSpPr>
        <p:spPr>
          <a:xfrm>
            <a:off x="7840301" y="5232903"/>
            <a:ext cx="200986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Điểm bình quân:</a:t>
            </a:r>
            <a:endParaRPr b="0" i="0" sz="1400" u="none" cap="none" strike="noStrike">
              <a:solidFill>
                <a:srgbClr val="000000"/>
              </a:solidFill>
              <a:latin typeface="Arial"/>
              <a:ea typeface="Arial"/>
              <a:cs typeface="Arial"/>
              <a:sym typeface="Arial"/>
            </a:endParaRPr>
          </a:p>
        </p:txBody>
      </p:sp>
      <p:sp>
        <p:nvSpPr>
          <p:cNvPr id="301" name="Google Shape;301;p22"/>
          <p:cNvSpPr txBox="1"/>
          <p:nvPr/>
        </p:nvSpPr>
        <p:spPr>
          <a:xfrm>
            <a:off x="1235798" y="917993"/>
            <a:ext cx="10245600" cy="36942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Nhằm hạn chế User dùng Free chuyển sang mua gói trả phí, app chỉ phép: </a:t>
            </a: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 Free User: 1 thiết bị</a:t>
            </a: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 Vip 1 năm User: 5 thiết bị</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Cảnh báo và không cho đăng nhập từ thiết bị thứ 2 đối với thành viên chưa mua gói: </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Subject: “</a:t>
            </a:r>
            <a:r>
              <a:rPr b="0" i="1" lang="en-US" sz="1800" u="none" cap="none" strike="noStrike">
                <a:solidFill>
                  <a:schemeClr val="dk1"/>
                </a:solidFill>
                <a:latin typeface="Arial"/>
                <a:ea typeface="Arial"/>
                <a:cs typeface="Arial"/>
                <a:sym typeface="Arial"/>
              </a:rPr>
              <a:t>Tài khoản của bạn hiện đang được đăng nhập trên một thiết bị khác.</a:t>
            </a:r>
            <a:br>
              <a:rPr b="0" i="1" lang="en-US" sz="1800" u="none" cap="none" strike="noStrike">
                <a:solidFill>
                  <a:schemeClr val="dk1"/>
                </a:solidFill>
                <a:latin typeface="Arial"/>
                <a:ea typeface="Arial"/>
                <a:cs typeface="Arial"/>
                <a:sym typeface="Arial"/>
              </a:rPr>
            </a:br>
            <a:r>
              <a:rPr b="0" i="1" lang="en-US" sz="1800" u="none" cap="none" strike="noStrike">
                <a:solidFill>
                  <a:schemeClr val="dk1"/>
                </a:solidFill>
                <a:latin typeface="Arial"/>
                <a:ea typeface="Arial"/>
                <a:cs typeface="Arial"/>
                <a:sym typeface="Arial"/>
              </a:rPr>
              <a:t>Nếu bạn muốn sử dụng tài khoản đồng thời trên nhiều thiết bị để cùng vợ hoặc chồng chia sẻ hành trình chăm sóc con với ứng dụng CHĂM CON 360, hãy nâng cấp lên "Gói VIP 1 năm". Để đăng ký, vui lòng vào Tài khoản → Gói thành viên → Gói VIP 1 năm</a:t>
            </a:r>
            <a:r>
              <a:rPr b="0" i="0" lang="en-US" sz="18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302" name="Google Shape;302;p22"/>
          <p:cNvSpPr txBox="1"/>
          <p:nvPr/>
        </p:nvSpPr>
        <p:spPr>
          <a:xfrm>
            <a:off x="1235798" y="5048236"/>
            <a:ext cx="10245506" cy="646331"/>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Các trường hợp thay đổi điện thoại thì liên hệ admin Chăm con 360 nâng cấp gói Vip để lấy lại tài khoản.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g3ebe6d4c667_0_0"/>
          <p:cNvSpPr txBox="1"/>
          <p:nvPr>
            <p:ph type="ctrTitle"/>
          </p:nvPr>
        </p:nvSpPr>
        <p:spPr>
          <a:xfrm>
            <a:off x="1342930" y="268525"/>
            <a:ext cx="10245600" cy="446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70C0"/>
              </a:buClr>
              <a:buSzPts val="2400"/>
              <a:buFont typeface="Times New Roman"/>
              <a:buNone/>
            </a:pPr>
            <a:r>
              <a:rPr b="1" lang="en-US" sz="2400">
                <a:solidFill>
                  <a:srgbClr val="0070C0"/>
                </a:solidFill>
                <a:latin typeface="Times New Roman"/>
                <a:ea typeface="Times New Roman"/>
                <a:cs typeface="Times New Roman"/>
                <a:sym typeface="Times New Roman"/>
              </a:rPr>
              <a:t>TÍNH ĐIỂM CHIỀU CAO</a:t>
            </a:r>
            <a:endParaRPr/>
          </a:p>
        </p:txBody>
      </p:sp>
      <p:pic>
        <p:nvPicPr>
          <p:cNvPr descr="A logo with a group of people&#10;&#10;AI-generated content may be incorrect." id="308" name="Google Shape;308;g3ebe6d4c667_0_0"/>
          <p:cNvPicPr preferRelativeResize="0"/>
          <p:nvPr/>
        </p:nvPicPr>
        <p:blipFill rotWithShape="1">
          <a:blip r:embed="rId3">
            <a:alphaModFix/>
          </a:blip>
          <a:srcRect b="11589" l="7196" r="9995" t="15199"/>
          <a:stretch/>
        </p:blipFill>
        <p:spPr>
          <a:xfrm>
            <a:off x="0" y="65757"/>
            <a:ext cx="964005" cy="852236"/>
          </a:xfrm>
          <a:prstGeom prst="rect">
            <a:avLst/>
          </a:prstGeom>
          <a:noFill/>
          <a:ln>
            <a:noFill/>
          </a:ln>
        </p:spPr>
      </p:pic>
      <p:graphicFrame>
        <p:nvGraphicFramePr>
          <p:cNvPr id="309" name="Google Shape;309;g3ebe6d4c667_0_0"/>
          <p:cNvGraphicFramePr/>
          <p:nvPr/>
        </p:nvGraphicFramePr>
        <p:xfrm>
          <a:off x="9701650" y="624550"/>
          <a:ext cx="3000000" cy="3000000"/>
        </p:xfrm>
        <a:graphic>
          <a:graphicData uri="http://schemas.openxmlformats.org/drawingml/2006/table">
            <a:tbl>
              <a:tblPr>
                <a:noFill/>
                <a:tableStyleId>{603347AA-3ED7-40BA-831F-9B441AAF0A51}</a:tableStyleId>
              </a:tblPr>
              <a:tblGrid>
                <a:gridCol w="828675"/>
                <a:gridCol w="6096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 so với WHO</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86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Điểm mới</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8650">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&gt;=105%</a:t>
                      </a:r>
                      <a:endParaRPr/>
                    </a:p>
                  </a:txBody>
                  <a:tcPr marT="91425" marB="91425" marR="91425" marL="91425">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rgbClr val="000000"/>
                      </a:solidFill>
                      <a:prstDash val="solid"/>
                      <a:round/>
                      <a:headEnd len="sm" w="sm" type="none"/>
                      <a:tailEnd len="sm" w="sm" type="none"/>
                    </a:lnT>
                    <a:lnB cap="flat" cmpd="sng" w="86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10</a:t>
                      </a:r>
                      <a:endParaRPr/>
                    </a:p>
                  </a:txBody>
                  <a:tcPr marT="91425" marB="91425" marR="91425" marL="91425">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rgbClr val="000000"/>
                      </a:solidFill>
                      <a:prstDash val="solid"/>
                      <a:round/>
                      <a:headEnd len="sm" w="sm" type="none"/>
                      <a:tailEnd len="sm" w="sm" type="none"/>
                    </a:lnT>
                    <a:lnB cap="flat" cmpd="sng" w="8650">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100–104%</a:t>
                      </a:r>
                      <a:endParaRPr/>
                    </a:p>
                  </a:txBody>
                  <a:tcPr marT="91425" marB="91425" marR="91425" marL="91425">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rgbClr val="000000"/>
                      </a:solidFill>
                      <a:prstDash val="solid"/>
                      <a:round/>
                      <a:headEnd len="sm" w="sm" type="none"/>
                      <a:tailEnd len="sm" w="sm" type="none"/>
                    </a:lnT>
                    <a:lnB cap="flat" cmpd="sng" w="86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9</a:t>
                      </a:r>
                      <a:endParaRPr/>
                    </a:p>
                  </a:txBody>
                  <a:tcPr marT="91425" marB="91425" marR="91425" marL="91425">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rgbClr val="000000"/>
                      </a:solidFill>
                      <a:prstDash val="solid"/>
                      <a:round/>
                      <a:headEnd len="sm" w="sm" type="none"/>
                      <a:tailEnd len="sm" w="sm" type="none"/>
                    </a:lnT>
                    <a:lnB cap="flat" cmpd="sng" w="8650">
                      <a:solidFill>
                        <a:srgbClr val="000000"/>
                      </a:solidFill>
                      <a:prstDash val="solid"/>
                      <a:round/>
                      <a:headEnd len="sm" w="sm" type="none"/>
                      <a:tailEnd len="sm" w="sm" type="none"/>
                    </a:lnB>
                  </a:tcPr>
                </a:tc>
              </a:tr>
              <a:tr h="177800">
                <a:tc>
                  <a:txBody>
                    <a:bodyPr/>
                    <a:lstStyle/>
                    <a:p>
                      <a:pPr indent="0" lvl="0" marL="0" rtl="0" algn="l">
                        <a:spcBef>
                          <a:spcPts val="0"/>
                        </a:spcBef>
                        <a:spcAft>
                          <a:spcPts val="0"/>
                        </a:spcAft>
                        <a:buNone/>
                      </a:pPr>
                      <a:r>
                        <a:rPr lang="en-US"/>
                        <a:t>95–99%</a:t>
                      </a:r>
                      <a:endParaRPr/>
                    </a:p>
                  </a:txBody>
                  <a:tcPr marT="91425" marB="91425" marR="91425" marL="91425">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rgbClr val="000000"/>
                      </a:solidFill>
                      <a:prstDash val="solid"/>
                      <a:round/>
                      <a:headEnd len="sm" w="sm" type="none"/>
                      <a:tailEnd len="sm" w="sm" type="none"/>
                    </a:lnT>
                    <a:lnB cap="flat" cmpd="sng" w="86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8</a:t>
                      </a:r>
                      <a:endParaRPr/>
                    </a:p>
                  </a:txBody>
                  <a:tcPr marT="91425" marB="91425" marR="91425" marL="91425">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rgbClr val="000000"/>
                      </a:solidFill>
                      <a:prstDash val="solid"/>
                      <a:round/>
                      <a:headEnd len="sm" w="sm" type="none"/>
                      <a:tailEnd len="sm" w="sm" type="none"/>
                    </a:lnT>
                    <a:lnB cap="flat" cmpd="sng" w="8650">
                      <a:solidFill>
                        <a:srgbClr val="000000"/>
                      </a:solidFill>
                      <a:prstDash val="solid"/>
                      <a:round/>
                      <a:headEnd len="sm" w="sm" type="none"/>
                      <a:tailEnd len="sm" w="sm" type="none"/>
                    </a:lnB>
                  </a:tcPr>
                </a:tc>
              </a:tr>
              <a:tr h="597775">
                <a:tc>
                  <a:txBody>
                    <a:bodyPr/>
                    <a:lstStyle/>
                    <a:p>
                      <a:pPr indent="0" lvl="0" marL="0" rtl="0" algn="l">
                        <a:spcBef>
                          <a:spcPts val="0"/>
                        </a:spcBef>
                        <a:spcAft>
                          <a:spcPts val="0"/>
                        </a:spcAft>
                        <a:buNone/>
                      </a:pPr>
                      <a:r>
                        <a:rPr lang="en-US"/>
                        <a:t>90–94%</a:t>
                      </a:r>
                      <a:endParaRPr/>
                    </a:p>
                  </a:txBody>
                  <a:tcPr marT="91425" marB="91425" marR="91425" marL="91425">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rgbClr val="000000"/>
                      </a:solidFill>
                      <a:prstDash val="solid"/>
                      <a:round/>
                      <a:headEnd len="sm" w="sm" type="none"/>
                      <a:tailEnd len="sm" w="sm" type="none"/>
                    </a:lnT>
                    <a:lnB cap="flat" cmpd="sng" w="86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7</a:t>
                      </a:r>
                      <a:endParaRPr/>
                    </a:p>
                  </a:txBody>
                  <a:tcPr marT="91425" marB="91425" marR="91425" marL="91425">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rgbClr val="000000"/>
                      </a:solidFill>
                      <a:prstDash val="solid"/>
                      <a:round/>
                      <a:headEnd len="sm" w="sm" type="none"/>
                      <a:tailEnd len="sm" w="sm" type="none"/>
                    </a:lnT>
                    <a:lnB cap="flat" cmpd="sng" w="8650">
                      <a:solidFill>
                        <a:srgbClr val="000000"/>
                      </a:solidFill>
                      <a:prstDash val="solid"/>
                      <a:round/>
                      <a:headEnd len="sm" w="sm" type="none"/>
                      <a:tailEnd len="sm" w="sm" type="none"/>
                    </a:lnB>
                  </a:tcPr>
                </a:tc>
              </a:tr>
              <a:tr h="177800">
                <a:tc>
                  <a:txBody>
                    <a:bodyPr/>
                    <a:lstStyle/>
                    <a:p>
                      <a:pPr indent="0" lvl="0" marL="0" rtl="0" algn="l">
                        <a:spcBef>
                          <a:spcPts val="0"/>
                        </a:spcBef>
                        <a:spcAft>
                          <a:spcPts val="0"/>
                        </a:spcAft>
                        <a:buNone/>
                      </a:pPr>
                      <a:r>
                        <a:rPr lang="en-US"/>
                        <a:t>85–89%</a:t>
                      </a:r>
                      <a:endParaRPr/>
                    </a:p>
                  </a:txBody>
                  <a:tcPr marT="91425" marB="91425" marR="91425" marL="91425">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rgbClr val="000000"/>
                      </a:solidFill>
                      <a:prstDash val="solid"/>
                      <a:round/>
                      <a:headEnd len="sm" w="sm" type="none"/>
                      <a:tailEnd len="sm" w="sm" type="none"/>
                    </a:lnT>
                    <a:lnB cap="flat" cmpd="sng" w="86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6</a:t>
                      </a:r>
                      <a:endParaRPr/>
                    </a:p>
                  </a:txBody>
                  <a:tcPr marT="91425" marB="91425" marR="91425" marL="91425">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rgbClr val="000000"/>
                      </a:solidFill>
                      <a:prstDash val="solid"/>
                      <a:round/>
                      <a:headEnd len="sm" w="sm" type="none"/>
                      <a:tailEnd len="sm" w="sm" type="none"/>
                    </a:lnT>
                    <a:lnB cap="flat" cmpd="sng" w="8650">
                      <a:solidFill>
                        <a:srgbClr val="000000"/>
                      </a:solidFill>
                      <a:prstDash val="solid"/>
                      <a:round/>
                      <a:headEnd len="sm" w="sm" type="none"/>
                      <a:tailEnd len="sm" w="sm" type="none"/>
                    </a:lnB>
                  </a:tcPr>
                </a:tc>
              </a:tr>
              <a:tr h="177800">
                <a:tc>
                  <a:txBody>
                    <a:bodyPr/>
                    <a:lstStyle/>
                    <a:p>
                      <a:pPr indent="0" lvl="0" marL="0" rtl="0" algn="l">
                        <a:spcBef>
                          <a:spcPts val="0"/>
                        </a:spcBef>
                        <a:spcAft>
                          <a:spcPts val="0"/>
                        </a:spcAft>
                        <a:buNone/>
                      </a:pPr>
                      <a:r>
                        <a:rPr lang="en-US"/>
                        <a:t>80-84%</a:t>
                      </a:r>
                      <a:endParaRPr/>
                    </a:p>
                  </a:txBody>
                  <a:tcPr marT="91425" marB="91425" marR="91425" marL="91425">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rgbClr val="000000"/>
                      </a:solidFill>
                      <a:prstDash val="solid"/>
                      <a:round/>
                      <a:headEnd len="sm" w="sm" type="none"/>
                      <a:tailEnd len="sm" w="sm" type="none"/>
                    </a:lnT>
                    <a:lnB cap="flat" cmpd="sng" w="86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5</a:t>
                      </a:r>
                      <a:endParaRPr/>
                    </a:p>
                  </a:txBody>
                  <a:tcPr marT="91425" marB="91425" marR="91425" marL="91425">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rgbClr val="000000"/>
                      </a:solidFill>
                      <a:prstDash val="solid"/>
                      <a:round/>
                      <a:headEnd len="sm" w="sm" type="none"/>
                      <a:tailEnd len="sm" w="sm" type="none"/>
                    </a:lnT>
                    <a:lnB cap="flat" cmpd="sng" w="8650">
                      <a:solidFill>
                        <a:srgbClr val="000000"/>
                      </a:solidFill>
                      <a:prstDash val="solid"/>
                      <a:round/>
                      <a:headEnd len="sm" w="sm" type="none"/>
                      <a:tailEnd len="sm" w="sm" type="none"/>
                    </a:lnB>
                  </a:tcPr>
                </a:tc>
              </a:tr>
              <a:tr h="177800">
                <a:tc>
                  <a:txBody>
                    <a:bodyPr/>
                    <a:lstStyle/>
                    <a:p>
                      <a:pPr indent="0" lvl="0" marL="0" rtl="0" algn="l">
                        <a:spcBef>
                          <a:spcPts val="0"/>
                        </a:spcBef>
                        <a:spcAft>
                          <a:spcPts val="0"/>
                        </a:spcAft>
                        <a:buNone/>
                      </a:pPr>
                      <a:r>
                        <a:rPr lang="en-US"/>
                        <a:t>75-79%</a:t>
                      </a:r>
                      <a:endParaRPr/>
                    </a:p>
                  </a:txBody>
                  <a:tcPr marT="91425" marB="91425" marR="91425" marL="91425">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rgbClr val="000000"/>
                      </a:solidFill>
                      <a:prstDash val="solid"/>
                      <a:round/>
                      <a:headEnd len="sm" w="sm" type="none"/>
                      <a:tailEnd len="sm" w="sm" type="none"/>
                    </a:lnT>
                    <a:lnB cap="flat" cmpd="sng" w="86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4</a:t>
                      </a:r>
                      <a:endParaRPr/>
                    </a:p>
                  </a:txBody>
                  <a:tcPr marT="91425" marB="91425" marR="91425" marL="91425">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rgbClr val="000000"/>
                      </a:solidFill>
                      <a:prstDash val="solid"/>
                      <a:round/>
                      <a:headEnd len="sm" w="sm" type="none"/>
                      <a:tailEnd len="sm" w="sm" type="none"/>
                    </a:lnT>
                    <a:lnB cap="flat" cmpd="sng" w="8650">
                      <a:solidFill>
                        <a:srgbClr val="000000"/>
                      </a:solidFill>
                      <a:prstDash val="solid"/>
                      <a:round/>
                      <a:headEnd len="sm" w="sm" type="none"/>
                      <a:tailEnd len="sm" w="sm" type="none"/>
                    </a:lnB>
                  </a:tcPr>
                </a:tc>
              </a:tr>
              <a:tr h="177800">
                <a:tc>
                  <a:txBody>
                    <a:bodyPr/>
                    <a:lstStyle/>
                    <a:p>
                      <a:pPr indent="0" lvl="0" marL="0" rtl="0" algn="l">
                        <a:spcBef>
                          <a:spcPts val="0"/>
                        </a:spcBef>
                        <a:spcAft>
                          <a:spcPts val="0"/>
                        </a:spcAft>
                        <a:buNone/>
                      </a:pPr>
                      <a:r>
                        <a:rPr lang="en-US"/>
                        <a:t>70-74%</a:t>
                      </a:r>
                      <a:endParaRPr/>
                    </a:p>
                  </a:txBody>
                  <a:tcPr marT="91425" marB="91425" marR="91425" marL="91425">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rgbClr val="000000"/>
                      </a:solidFill>
                      <a:prstDash val="solid"/>
                      <a:round/>
                      <a:headEnd len="sm" w="sm" type="none"/>
                      <a:tailEnd len="sm" w="sm" type="none"/>
                    </a:lnT>
                    <a:lnB cap="flat" cmpd="sng" w="86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3</a:t>
                      </a:r>
                      <a:endParaRPr/>
                    </a:p>
                  </a:txBody>
                  <a:tcPr marT="91425" marB="91425" marR="91425" marL="91425">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rgbClr val="000000"/>
                      </a:solidFill>
                      <a:prstDash val="solid"/>
                      <a:round/>
                      <a:headEnd len="sm" w="sm" type="none"/>
                      <a:tailEnd len="sm" w="sm" type="none"/>
                    </a:lnT>
                    <a:lnB cap="flat" cmpd="sng" w="8650">
                      <a:solidFill>
                        <a:srgbClr val="000000"/>
                      </a:solidFill>
                      <a:prstDash val="solid"/>
                      <a:round/>
                      <a:headEnd len="sm" w="sm" type="none"/>
                      <a:tailEnd len="sm" w="sm" type="none"/>
                    </a:lnB>
                  </a:tcPr>
                </a:tc>
              </a:tr>
              <a:tr h="177800">
                <a:tc>
                  <a:txBody>
                    <a:bodyPr/>
                    <a:lstStyle/>
                    <a:p>
                      <a:pPr indent="0" lvl="0" marL="0" rtl="0" algn="l">
                        <a:spcBef>
                          <a:spcPts val="0"/>
                        </a:spcBef>
                        <a:spcAft>
                          <a:spcPts val="0"/>
                        </a:spcAft>
                        <a:buNone/>
                      </a:pPr>
                      <a:r>
                        <a:rPr lang="en-US"/>
                        <a:t>65-69%</a:t>
                      </a:r>
                      <a:endParaRPr/>
                    </a:p>
                  </a:txBody>
                  <a:tcPr marT="91425" marB="91425" marR="91425" marL="91425">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rgbClr val="000000"/>
                      </a:solidFill>
                      <a:prstDash val="solid"/>
                      <a:round/>
                      <a:headEnd len="sm" w="sm" type="none"/>
                      <a:tailEnd len="sm" w="sm" type="none"/>
                    </a:lnT>
                    <a:lnB cap="flat" cmpd="sng" w="86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a:t>
                      </a:r>
                      <a:endParaRPr/>
                    </a:p>
                  </a:txBody>
                  <a:tcPr marT="91425" marB="91425" marR="91425" marL="91425">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rgbClr val="000000"/>
                      </a:solidFill>
                      <a:prstDash val="solid"/>
                      <a:round/>
                      <a:headEnd len="sm" w="sm" type="none"/>
                      <a:tailEnd len="sm" w="sm" type="none"/>
                    </a:lnT>
                    <a:lnB cap="flat" cmpd="sng" w="8650">
                      <a:solidFill>
                        <a:srgbClr val="000000"/>
                      </a:solidFill>
                      <a:prstDash val="solid"/>
                      <a:round/>
                      <a:headEnd len="sm" w="sm" type="none"/>
                      <a:tailEnd len="sm" w="sm" type="none"/>
                    </a:lnB>
                  </a:tcPr>
                </a:tc>
              </a:tr>
              <a:tr h="177800">
                <a:tc>
                  <a:txBody>
                    <a:bodyPr/>
                    <a:lstStyle/>
                    <a:p>
                      <a:pPr indent="0" lvl="0" marL="0" rtl="0" algn="l">
                        <a:spcBef>
                          <a:spcPts val="0"/>
                        </a:spcBef>
                        <a:spcAft>
                          <a:spcPts val="0"/>
                        </a:spcAft>
                        <a:buNone/>
                      </a:pPr>
                      <a:r>
                        <a:rPr lang="en-US"/>
                        <a:t>&lt;65%</a:t>
                      </a:r>
                      <a:endParaRPr/>
                    </a:p>
                  </a:txBody>
                  <a:tcPr marT="91425" marB="91425" marR="91425" marL="91425">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rgbClr val="000000"/>
                      </a:solidFill>
                      <a:prstDash val="solid"/>
                      <a:round/>
                      <a:headEnd len="sm" w="sm" type="none"/>
                      <a:tailEnd len="sm" w="sm" type="none"/>
                    </a:lnT>
                    <a:lnB cap="flat" cmpd="sng" w="86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1</a:t>
                      </a:r>
                      <a:endParaRPr/>
                    </a:p>
                  </a:txBody>
                  <a:tcPr marT="91425" marB="91425" marR="91425" marL="91425">
                    <a:lnL cap="flat" cmpd="sng" w="8650">
                      <a:solidFill>
                        <a:srgbClr val="000000"/>
                      </a:solidFill>
                      <a:prstDash val="solid"/>
                      <a:round/>
                      <a:headEnd len="sm" w="sm" type="none"/>
                      <a:tailEnd len="sm" w="sm" type="none"/>
                    </a:lnL>
                    <a:lnR cap="flat" cmpd="sng" w="8650">
                      <a:solidFill>
                        <a:srgbClr val="000000"/>
                      </a:solidFill>
                      <a:prstDash val="solid"/>
                      <a:round/>
                      <a:headEnd len="sm" w="sm" type="none"/>
                      <a:tailEnd len="sm" w="sm" type="none"/>
                    </a:lnR>
                    <a:lnT cap="flat" cmpd="sng" w="8650">
                      <a:solidFill>
                        <a:srgbClr val="000000"/>
                      </a:solidFill>
                      <a:prstDash val="solid"/>
                      <a:round/>
                      <a:headEnd len="sm" w="sm" type="none"/>
                      <a:tailEnd len="sm" w="sm" type="none"/>
                    </a:lnT>
                    <a:lnB cap="flat" cmpd="sng" w="8650">
                      <a:solidFill>
                        <a:srgbClr val="000000"/>
                      </a:solidFill>
                      <a:prstDash val="solid"/>
                      <a:round/>
                      <a:headEnd len="sm" w="sm" type="none"/>
                      <a:tailEnd len="sm" w="sm" type="none"/>
                    </a:lnB>
                  </a:tcPr>
                </a:tc>
              </a:tr>
            </a:tbl>
          </a:graphicData>
        </a:graphic>
      </p:graphicFrame>
      <p:sp>
        <p:nvSpPr>
          <p:cNvPr id="310" name="Google Shape;310;g3ebe6d4c667_0_0"/>
          <p:cNvSpPr txBox="1"/>
          <p:nvPr/>
        </p:nvSpPr>
        <p:spPr>
          <a:xfrm>
            <a:off x="437925" y="1008663"/>
            <a:ext cx="8581500" cy="336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Hiện trạng</a:t>
            </a:r>
            <a:r>
              <a:rPr b="0" i="0" lang="en-US" sz="2800" u="none" cap="none" strike="noStrike">
                <a:solidFill>
                  <a:schemeClr val="dk1"/>
                </a:solidFill>
                <a:latin typeface="Arial"/>
                <a:ea typeface="Arial"/>
                <a:cs typeface="Arial"/>
                <a:sym typeface="Arial"/>
              </a:rPr>
              <a:t>: Điểm chiều cao hiện tại, điểm chiều cao trưởng thành tính chưa phân bổ đều (lấy chiều cao hiện tại hoặc dự đoán chia cho chuẩn WHO rồi nhân 10)</a:t>
            </a:r>
            <a:br>
              <a:rPr b="0" i="0" lang="en-US" sz="2800" u="none" cap="none" strike="noStrike">
                <a:solidFill>
                  <a:schemeClr val="dk1"/>
                </a:solidFill>
                <a:latin typeface="Arial"/>
                <a:ea typeface="Arial"/>
                <a:cs typeface="Arial"/>
                <a:sym typeface="Arial"/>
              </a:rPr>
            </a:br>
            <a:r>
              <a:rPr b="1" i="0" lang="en-US" sz="2800" u="none" cap="none" strike="noStrike">
                <a:solidFill>
                  <a:schemeClr val="dk1"/>
                </a:solidFill>
                <a:latin typeface="Arial"/>
                <a:ea typeface="Arial"/>
                <a:cs typeface="Arial"/>
                <a:sym typeface="Arial"/>
              </a:rPr>
              <a:t>Thay đổi</a:t>
            </a:r>
            <a:r>
              <a:rPr b="0" i="0" lang="en-US" sz="2800" u="none" cap="none" strike="noStrike">
                <a:solidFill>
                  <a:schemeClr val="dk1"/>
                </a:solidFill>
                <a:latin typeface="Arial"/>
                <a:ea typeface="Arial"/>
                <a:cs typeface="Arial"/>
                <a:sym typeface="Arial"/>
              </a:rPr>
              <a:t>: tính theo bảng bên cạnh. Lấy chiều cao hiện tại hoặc dự đoán chia cho chuẩn WHO, rồi tham chiếu bảng bên cạnh</a:t>
            </a:r>
            <a:endParaRPr b="0" i="0" sz="2800" u="none" cap="none" strike="noStrike">
              <a:solidFill>
                <a:schemeClr val="dk1"/>
              </a:solidFill>
              <a:latin typeface="Arial"/>
              <a:ea typeface="Arial"/>
              <a:cs typeface="Arial"/>
              <a:sym typeface="Arial"/>
            </a:endParaRPr>
          </a:p>
        </p:txBody>
      </p:sp>
      <p:pic>
        <p:nvPicPr>
          <p:cNvPr id="311" name="Google Shape;311;g3ebe6d4c667_0_0" title="PQ.png"/>
          <p:cNvPicPr preferRelativeResize="0"/>
          <p:nvPr/>
        </p:nvPicPr>
        <p:blipFill rotWithShape="1">
          <a:blip r:embed="rId4">
            <a:alphaModFix/>
          </a:blip>
          <a:srcRect b="32105" l="0" r="0" t="31191"/>
          <a:stretch/>
        </p:blipFill>
        <p:spPr>
          <a:xfrm>
            <a:off x="4216100" y="3964750"/>
            <a:ext cx="3382101" cy="251724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g3f2fb805f84_0_0"/>
          <p:cNvSpPr txBox="1"/>
          <p:nvPr>
            <p:ph type="ctrTitle"/>
          </p:nvPr>
        </p:nvSpPr>
        <p:spPr>
          <a:xfrm>
            <a:off x="1342930" y="268525"/>
            <a:ext cx="10245600" cy="446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70C0"/>
              </a:buClr>
              <a:buSzPts val="2400"/>
              <a:buFont typeface="Times New Roman"/>
              <a:buNone/>
            </a:pPr>
            <a:r>
              <a:rPr b="1" lang="en-US" sz="2400">
                <a:solidFill>
                  <a:srgbClr val="0070C0"/>
                </a:solidFill>
                <a:latin typeface="Times New Roman"/>
                <a:ea typeface="Times New Roman"/>
                <a:cs typeface="Times New Roman"/>
                <a:sym typeface="Times New Roman"/>
              </a:rPr>
              <a:t>NHẬT KÝ KHOẢNH KHẮC</a:t>
            </a:r>
            <a:endParaRPr/>
          </a:p>
        </p:txBody>
      </p:sp>
      <p:pic>
        <p:nvPicPr>
          <p:cNvPr descr="A logo with a group of people&#10;&#10;AI-generated content may be incorrect." id="317" name="Google Shape;317;g3f2fb805f84_0_0"/>
          <p:cNvPicPr preferRelativeResize="0"/>
          <p:nvPr/>
        </p:nvPicPr>
        <p:blipFill rotWithShape="1">
          <a:blip r:embed="rId3">
            <a:alphaModFix/>
          </a:blip>
          <a:srcRect b="11589" l="7196" r="9995" t="15199"/>
          <a:stretch/>
        </p:blipFill>
        <p:spPr>
          <a:xfrm>
            <a:off x="0" y="65757"/>
            <a:ext cx="964005" cy="852236"/>
          </a:xfrm>
          <a:prstGeom prst="rect">
            <a:avLst/>
          </a:prstGeom>
          <a:noFill/>
          <a:ln>
            <a:noFill/>
          </a:ln>
        </p:spPr>
      </p:pic>
      <p:sp>
        <p:nvSpPr>
          <p:cNvPr id="318" name="Google Shape;318;g3f2fb805f84_0_0"/>
          <p:cNvSpPr txBox="1"/>
          <p:nvPr/>
        </p:nvSpPr>
        <p:spPr>
          <a:xfrm>
            <a:off x="437925" y="1008675"/>
            <a:ext cx="8581500" cy="272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Hiện trạng</a:t>
            </a:r>
            <a:r>
              <a:rPr b="0" i="0" lang="en-US" sz="2800" u="none" cap="none" strike="noStrike">
                <a:solidFill>
                  <a:schemeClr val="dk1"/>
                </a:solidFill>
                <a:latin typeface="Arial"/>
                <a:ea typeface="Arial"/>
                <a:cs typeface="Arial"/>
                <a:sym typeface="Arial"/>
              </a:rPr>
              <a:t>: </a:t>
            </a:r>
            <a:r>
              <a:rPr lang="en-US" sz="2800">
                <a:solidFill>
                  <a:schemeClr val="dk1"/>
                </a:solidFill>
              </a:rPr>
              <a:t>Người dùng tuỳ ý thêm các cột mốc - chưa thu hút do không biết bắt đầu như thế nào?</a:t>
            </a:r>
            <a:endParaRPr sz="2800">
              <a:solidFill>
                <a:schemeClr val="dk1"/>
              </a:solidFill>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Thay đổi</a:t>
            </a:r>
            <a:r>
              <a:rPr b="0" i="0" lang="en-US" sz="2800" u="none" cap="none" strike="noStrike">
                <a:solidFill>
                  <a:schemeClr val="dk1"/>
                </a:solidFill>
                <a:latin typeface="Arial"/>
                <a:ea typeface="Arial"/>
                <a:cs typeface="Arial"/>
                <a:sym typeface="Arial"/>
              </a:rPr>
              <a:t>: </a:t>
            </a:r>
            <a:r>
              <a:rPr lang="en-US" sz="2800">
                <a:solidFill>
                  <a:schemeClr val="dk1"/>
                </a:solidFill>
              </a:rPr>
              <a:t>App đề xuất các danh mục cột mốc sẵn hoặc người dùng được quyền thêm cột mốc tuỳ ý. Sắp xếp theo thời gian các sự kiện xảy ra từ mới nhất xuống.</a:t>
            </a:r>
            <a:endParaRPr sz="2800">
              <a:solidFill>
                <a:schemeClr val="dk1"/>
              </a:solidFill>
            </a:endParaRPr>
          </a:p>
          <a:p>
            <a:pPr indent="0" lvl="0" marL="0" marR="0" rtl="0" algn="l">
              <a:lnSpc>
                <a:spcPct val="100000"/>
              </a:lnSpc>
              <a:spcBef>
                <a:spcPts val="0"/>
              </a:spcBef>
              <a:spcAft>
                <a:spcPts val="0"/>
              </a:spcAft>
              <a:buClr>
                <a:srgbClr val="000000"/>
              </a:buClr>
              <a:buSzPts val="2800"/>
              <a:buFont typeface="Arial"/>
              <a:buNone/>
            </a:pPr>
            <a:r>
              <a:t/>
            </a:r>
            <a:endParaRPr sz="2800">
              <a:solidFill>
                <a:schemeClr val="dk1"/>
              </a:solidFill>
            </a:endParaRPr>
          </a:p>
        </p:txBody>
      </p:sp>
      <p:pic>
        <p:nvPicPr>
          <p:cNvPr id="319" name="Google Shape;319;g3f2fb805f84_0_0" title="Khoanh khac.png"/>
          <p:cNvPicPr preferRelativeResize="0"/>
          <p:nvPr/>
        </p:nvPicPr>
        <p:blipFill>
          <a:blip r:embed="rId4">
            <a:alphaModFix/>
          </a:blip>
          <a:stretch>
            <a:fillRect/>
          </a:stretch>
        </p:blipFill>
        <p:spPr>
          <a:xfrm>
            <a:off x="2874125" y="3256850"/>
            <a:ext cx="1775984" cy="3601198"/>
          </a:xfrm>
          <a:prstGeom prst="rect">
            <a:avLst/>
          </a:prstGeom>
          <a:noFill/>
          <a:ln>
            <a:noFill/>
          </a:ln>
        </p:spPr>
      </p:pic>
      <p:sp>
        <p:nvSpPr>
          <p:cNvPr id="320" name="Google Shape;320;g3f2fb805f84_0_0"/>
          <p:cNvSpPr txBox="1"/>
          <p:nvPr/>
        </p:nvSpPr>
        <p:spPr>
          <a:xfrm>
            <a:off x="6713400" y="195150"/>
            <a:ext cx="2738400" cy="6792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Giai đoạn sơ sinh (0–1 tuổi)</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Sinh ra</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Mỉm cười đầu tiên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Biết lẫy</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Biết ngồi</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Biết trườn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Biết bò</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Mọc chiếc răng đầu tiên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Biết vịn đứng</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Biết đứng</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Biết đi</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Nói tiếng đầu tiên</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Giai đoạn tập đi (1–3 tuổi)</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Biết chạy</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Biết leo cầu thang</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Tự xúc ăn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Cai sữa</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Bỏ bỉm</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Biết gọi tên bố mẹ</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Biết hát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Biết nhảy</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Biết vẽ</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Đi học mẫu giáo</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Giai đoạn mẫu giáo (3–6 tuổi)</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Thuộc bảng chữ cái</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Biết đếm số</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Biết viết tên mình</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Biết đọc những từ đầu tiên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Biết đi xe đạp</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Biết bơi</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Biết tự mặc quần áo</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Biết đánh răng</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Rụng chiếc răng sữa đầu tiên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Hoàn thành chương trình mẫu giáo</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Giai đoạn tiểu học (6–11 tuổi)</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Vào lớp 1</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Đọc thành thạo</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Viết thành thạo</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Có người bạn thân đầu tiên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Đạt giải thưởng đầu tiên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Biết đi xe đạp hai bánh</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Hoàn thành chương trình Tiểu học</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Giai đoạn trung học (11–18 tuổi)</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Vào Trung học cơ sở</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Bước vào tuổi dậy thì</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Đạt thành tích học tập nổi bật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Có chứng chỉ đầu tiên (ngoại ngữ, tin học...)</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Vào Trung học phổ thông</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Thi đỗ tốt nghiệp THPT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Đỗ đại học hoặc chọn con đường nghề nghiệp</a:t>
            </a:r>
            <a:endParaRPr sz="1100">
              <a:solidFill>
                <a:schemeClr val="dk1"/>
              </a:solidFill>
            </a:endParaRPr>
          </a:p>
          <a:p>
            <a:pPr indent="0" lvl="0" marL="0" rtl="0" algn="l">
              <a:spcBef>
                <a:spcPts val="1200"/>
              </a:spcBef>
              <a:spcAft>
                <a:spcPts val="0"/>
              </a:spcAft>
              <a:buNone/>
            </a:pPr>
            <a:r>
              <a:t/>
            </a:r>
            <a:endParaRPr sz="28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g3f60a83da5e_0_0"/>
          <p:cNvSpPr txBox="1"/>
          <p:nvPr>
            <p:ph type="ctrTitle"/>
          </p:nvPr>
        </p:nvSpPr>
        <p:spPr>
          <a:xfrm>
            <a:off x="1342930" y="268525"/>
            <a:ext cx="10245600" cy="446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70C0"/>
              </a:buClr>
              <a:buSzPts val="2400"/>
              <a:buFont typeface="Times New Roman"/>
              <a:buNone/>
            </a:pPr>
            <a:r>
              <a:rPr b="1" lang="en-US" sz="2400">
                <a:solidFill>
                  <a:srgbClr val="0070C0"/>
                </a:solidFill>
                <a:latin typeface="Times New Roman"/>
                <a:ea typeface="Times New Roman"/>
                <a:cs typeface="Times New Roman"/>
                <a:sym typeface="Times New Roman"/>
              </a:rPr>
              <a:t>NÂNG TRẢI NGHIỆM NGƯỜI DÙNG</a:t>
            </a:r>
            <a:endParaRPr/>
          </a:p>
        </p:txBody>
      </p:sp>
      <p:pic>
        <p:nvPicPr>
          <p:cNvPr descr="A logo with a group of people&#10;&#10;AI-generated content may be incorrect." id="326" name="Google Shape;326;g3f60a83da5e_0_0"/>
          <p:cNvPicPr preferRelativeResize="0"/>
          <p:nvPr/>
        </p:nvPicPr>
        <p:blipFill rotWithShape="1">
          <a:blip r:embed="rId3">
            <a:alphaModFix/>
          </a:blip>
          <a:srcRect b="11589" l="7196" r="9995" t="15199"/>
          <a:stretch/>
        </p:blipFill>
        <p:spPr>
          <a:xfrm>
            <a:off x="0" y="65757"/>
            <a:ext cx="964005" cy="852236"/>
          </a:xfrm>
          <a:prstGeom prst="rect">
            <a:avLst/>
          </a:prstGeom>
          <a:noFill/>
          <a:ln>
            <a:noFill/>
          </a:ln>
        </p:spPr>
      </p:pic>
      <p:sp>
        <p:nvSpPr>
          <p:cNvPr id="327" name="Google Shape;327;g3f60a83da5e_0_0"/>
          <p:cNvSpPr txBox="1"/>
          <p:nvPr/>
        </p:nvSpPr>
        <p:spPr>
          <a:xfrm>
            <a:off x="281450" y="1026375"/>
            <a:ext cx="6048300" cy="622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US" sz="1700">
                <a:solidFill>
                  <a:schemeClr val="dk1"/>
                </a:solidFill>
              </a:rPr>
              <a:t>Đăng nhập lần đầu: Vào thẳng tạo HS con, Lưu thông tin bé xong chuyển sang thông báo: </a:t>
            </a:r>
            <a:endParaRPr sz="1700">
              <a:solidFill>
                <a:schemeClr val="dk1"/>
              </a:solidFill>
            </a:endParaRPr>
          </a:p>
          <a:p>
            <a:pPr indent="0" lvl="0" marL="0" marR="0" rtl="0" algn="l">
              <a:lnSpc>
                <a:spcPct val="100000"/>
              </a:lnSpc>
              <a:spcBef>
                <a:spcPts val="0"/>
              </a:spcBef>
              <a:spcAft>
                <a:spcPts val="0"/>
              </a:spcAft>
              <a:buClr>
                <a:srgbClr val="000000"/>
              </a:buClr>
              <a:buSzPts val="2800"/>
              <a:buFont typeface="Arial"/>
              <a:buNone/>
            </a:pPr>
            <a:r>
              <a:t/>
            </a:r>
            <a:endParaRPr sz="1700">
              <a:solidFill>
                <a:schemeClr val="dk1"/>
              </a:solidFill>
            </a:endParaRPr>
          </a:p>
        </p:txBody>
      </p:sp>
      <p:sp>
        <p:nvSpPr>
          <p:cNvPr id="328" name="Google Shape;328;g3f60a83da5e_0_0"/>
          <p:cNvSpPr/>
          <p:nvPr/>
        </p:nvSpPr>
        <p:spPr>
          <a:xfrm>
            <a:off x="964000" y="1757550"/>
            <a:ext cx="4222800" cy="852300"/>
          </a:xfrm>
          <a:prstGeom prst="rect">
            <a:avLst/>
          </a:prstGeom>
          <a:solidFill>
            <a:schemeClr val="lt2"/>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US"/>
              <a:t>Bạn có muốn xem hướng dẫn Dự đoán chiều cao?</a:t>
            </a:r>
            <a:endParaRPr/>
          </a:p>
          <a:p>
            <a:pPr indent="0" lvl="0" marL="0" rtl="0" algn="ctr">
              <a:spcBef>
                <a:spcPts val="0"/>
              </a:spcBef>
              <a:spcAft>
                <a:spcPts val="0"/>
              </a:spcAft>
              <a:buNone/>
            </a:pPr>
            <a:r>
              <a:t/>
            </a:r>
            <a:endParaRPr/>
          </a:p>
          <a:p>
            <a:pPr indent="0" lvl="0" marL="0" rtl="0" algn="ctr">
              <a:spcBef>
                <a:spcPts val="0"/>
              </a:spcBef>
              <a:spcAft>
                <a:spcPts val="0"/>
              </a:spcAft>
              <a:buNone/>
            </a:pPr>
            <a:r>
              <a:rPr b="1" lang="en-US"/>
              <a:t>Có                            Thoát</a:t>
            </a:r>
            <a:endParaRPr b="1"/>
          </a:p>
        </p:txBody>
      </p:sp>
      <p:sp>
        <p:nvSpPr>
          <p:cNvPr id="329" name="Google Shape;329;g3f60a83da5e_0_0"/>
          <p:cNvSpPr txBox="1"/>
          <p:nvPr/>
        </p:nvSpPr>
        <p:spPr>
          <a:xfrm>
            <a:off x="281450" y="2965075"/>
            <a:ext cx="6048300" cy="3645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US" sz="1500">
                <a:solidFill>
                  <a:schemeClr val="dk1"/>
                </a:solidFill>
              </a:rPr>
              <a:t>                                      Hướng dẫn dự đoán chiều cao:</a:t>
            </a:r>
            <a:br>
              <a:rPr b="1" lang="en-US" sz="1500">
                <a:solidFill>
                  <a:schemeClr val="dk1"/>
                </a:solidFill>
              </a:rPr>
            </a:br>
            <a:r>
              <a:rPr b="1" lang="en-US" sz="1500">
                <a:solidFill>
                  <a:schemeClr val="dk1"/>
                </a:solidFill>
              </a:rPr>
              <a:t>Bước 1: Nhập PQ:</a:t>
            </a:r>
            <a:endParaRPr b="1" sz="1500">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n-US" sz="1500">
                <a:solidFill>
                  <a:schemeClr val="dk1"/>
                </a:solidFill>
              </a:rPr>
              <a:t>Mở Chỉ số thể chất (PQ): (dấu +) Nhập chiều cao hiện tại và chiều cao cách đây 12 tháng(chú ý đổi lại thời điểm cân đo trước khi lưu) - phần này bắt buộc thì mới có dự đoán chính xác.</a:t>
            </a:r>
            <a:endParaRPr sz="15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500">
                <a:solidFill>
                  <a:schemeClr val="dk1"/>
                </a:solidFill>
              </a:rPr>
              <a:t>Bước 2: Tiến hành dự đoán</a:t>
            </a:r>
            <a:endParaRPr b="1" sz="1500">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n-US" sz="1500">
                <a:solidFill>
                  <a:schemeClr val="dk1"/>
                </a:solidFill>
              </a:rPr>
              <a:t>Nhấn vào biểu tượng Công cụ trên thanh menu dưới cùng.</a:t>
            </a:r>
            <a:endParaRPr sz="15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sz="1500">
                <a:solidFill>
                  <a:schemeClr val="dk1"/>
                </a:solidFill>
              </a:rPr>
              <a:t>Chọn Tiện ích → chọn trẻ theo ảnh đại diện.</a:t>
            </a:r>
            <a:endParaRPr sz="15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sz="1500">
                <a:solidFill>
                  <a:schemeClr val="dk1"/>
                </a:solidFill>
              </a:rPr>
              <a:t>Chọn Dự đoán chiều cao của bé để bắt đầu.</a:t>
            </a:r>
            <a:endParaRPr sz="1500">
              <a:solidFill>
                <a:schemeClr val="dk1"/>
              </a:solidFill>
            </a:endParaRPr>
          </a:p>
        </p:txBody>
      </p:sp>
      <p:sp>
        <p:nvSpPr>
          <p:cNvPr id="330" name="Google Shape;330;g3f60a83da5e_0_0"/>
          <p:cNvSpPr txBox="1"/>
          <p:nvPr/>
        </p:nvSpPr>
        <p:spPr>
          <a:xfrm>
            <a:off x="874975" y="6154950"/>
            <a:ext cx="1296000" cy="3069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500">
                <a:solidFill>
                  <a:schemeClr val="dk1"/>
                </a:solidFill>
              </a:rPr>
              <a:t>Nhập PQ</a:t>
            </a:r>
            <a:endParaRPr b="1" sz="1500">
              <a:solidFill>
                <a:schemeClr val="dk1"/>
              </a:solidFill>
            </a:endParaRPr>
          </a:p>
        </p:txBody>
      </p:sp>
      <p:sp>
        <p:nvSpPr>
          <p:cNvPr id="331" name="Google Shape;331;g3f60a83da5e_0_0"/>
          <p:cNvSpPr txBox="1"/>
          <p:nvPr/>
        </p:nvSpPr>
        <p:spPr>
          <a:xfrm>
            <a:off x="3883550" y="6154950"/>
            <a:ext cx="1218600" cy="3069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500">
                <a:solidFill>
                  <a:schemeClr val="dk1"/>
                </a:solidFill>
              </a:rPr>
              <a:t>Thoát</a:t>
            </a:r>
            <a:endParaRPr b="1" sz="1500">
              <a:solidFill>
                <a:schemeClr val="dk1"/>
              </a:solidFill>
            </a:endParaRPr>
          </a:p>
        </p:txBody>
      </p:sp>
      <p:grpSp>
        <p:nvGrpSpPr>
          <p:cNvPr id="332" name="Google Shape;332;g3f60a83da5e_0_0"/>
          <p:cNvGrpSpPr/>
          <p:nvPr/>
        </p:nvGrpSpPr>
        <p:grpSpPr>
          <a:xfrm>
            <a:off x="6814713" y="2643850"/>
            <a:ext cx="4998047" cy="4272251"/>
            <a:chOff x="6814713" y="2643850"/>
            <a:chExt cx="4998047" cy="4272251"/>
          </a:xfrm>
        </p:grpSpPr>
        <p:pic>
          <p:nvPicPr>
            <p:cNvPr id="333" name="Google Shape;333;g3f60a83da5e_0_0"/>
            <p:cNvPicPr preferRelativeResize="0"/>
            <p:nvPr/>
          </p:nvPicPr>
          <p:blipFill>
            <a:blip r:embed="rId4">
              <a:alphaModFix/>
            </a:blip>
            <a:stretch>
              <a:fillRect/>
            </a:stretch>
          </p:blipFill>
          <p:spPr>
            <a:xfrm>
              <a:off x="7367425" y="2643850"/>
              <a:ext cx="2028375" cy="4214149"/>
            </a:xfrm>
            <a:prstGeom prst="rect">
              <a:avLst/>
            </a:prstGeom>
            <a:noFill/>
            <a:ln>
              <a:noFill/>
            </a:ln>
          </p:spPr>
        </p:pic>
        <p:cxnSp>
          <p:nvCxnSpPr>
            <p:cNvPr id="334" name="Google Shape;334;g3f60a83da5e_0_0"/>
            <p:cNvCxnSpPr/>
            <p:nvPr/>
          </p:nvCxnSpPr>
          <p:spPr>
            <a:xfrm>
              <a:off x="6814713" y="5110750"/>
              <a:ext cx="495900" cy="0"/>
            </a:xfrm>
            <a:prstGeom prst="straightConnector1">
              <a:avLst/>
            </a:prstGeom>
            <a:noFill/>
            <a:ln cap="flat" cmpd="sng" w="9525">
              <a:solidFill>
                <a:schemeClr val="dk2"/>
              </a:solidFill>
              <a:prstDash val="solid"/>
              <a:round/>
              <a:headEnd len="med" w="med" type="none"/>
              <a:tailEnd len="med" w="med" type="triangle"/>
            </a:ln>
          </p:spPr>
        </p:cxnSp>
        <p:sp>
          <p:nvSpPr>
            <p:cNvPr id="335" name="Google Shape;335;g3f60a83da5e_0_0"/>
            <p:cNvSpPr txBox="1"/>
            <p:nvPr/>
          </p:nvSpPr>
          <p:spPr>
            <a:xfrm>
              <a:off x="7430900" y="4292316"/>
              <a:ext cx="1046400" cy="28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800">
                  <a:solidFill>
                    <a:schemeClr val="dk1"/>
                  </a:solidFill>
                </a:rPr>
                <a:t>Thời điểm cân đo</a:t>
              </a:r>
              <a:endParaRPr sz="800">
                <a:solidFill>
                  <a:schemeClr val="dk1"/>
                </a:solidFill>
              </a:endParaRPr>
            </a:p>
          </p:txBody>
        </p:sp>
        <p:pic>
          <p:nvPicPr>
            <p:cNvPr id="336" name="Google Shape;336;g3f60a83da5e_0_0"/>
            <p:cNvPicPr preferRelativeResize="0"/>
            <p:nvPr/>
          </p:nvPicPr>
          <p:blipFill>
            <a:blip r:embed="rId5">
              <a:alphaModFix/>
            </a:blip>
            <a:stretch>
              <a:fillRect/>
            </a:stretch>
          </p:blipFill>
          <p:spPr>
            <a:xfrm>
              <a:off x="9865700" y="2701951"/>
              <a:ext cx="1947060" cy="4214149"/>
            </a:xfrm>
            <a:prstGeom prst="rect">
              <a:avLst/>
            </a:prstGeom>
            <a:noFill/>
            <a:ln>
              <a:noFill/>
            </a:ln>
          </p:spPr>
        </p:pic>
        <p:sp>
          <p:nvSpPr>
            <p:cNvPr id="337" name="Google Shape;337;g3f60a83da5e_0_0"/>
            <p:cNvSpPr txBox="1"/>
            <p:nvPr/>
          </p:nvSpPr>
          <p:spPr>
            <a:xfrm>
              <a:off x="10949850" y="6155100"/>
              <a:ext cx="862800" cy="3069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000">
                  <a:solidFill>
                    <a:schemeClr val="dk1"/>
                  </a:solidFill>
                </a:rPr>
                <a:t>Dự đoán</a:t>
              </a:r>
              <a:endParaRPr b="1" sz="1000">
                <a:solidFill>
                  <a:schemeClr val="dk1"/>
                </a:solidFill>
              </a:endParaRPr>
            </a:p>
          </p:txBody>
        </p:sp>
        <p:cxnSp>
          <p:nvCxnSpPr>
            <p:cNvPr id="338" name="Google Shape;338;g3f60a83da5e_0_0"/>
            <p:cNvCxnSpPr/>
            <p:nvPr/>
          </p:nvCxnSpPr>
          <p:spPr>
            <a:xfrm>
              <a:off x="9395788" y="5040900"/>
              <a:ext cx="495900" cy="0"/>
            </a:xfrm>
            <a:prstGeom prst="straightConnector1">
              <a:avLst/>
            </a:prstGeom>
            <a:noFill/>
            <a:ln cap="flat" cmpd="sng" w="9525">
              <a:solidFill>
                <a:schemeClr val="dk2"/>
              </a:solidFill>
              <a:prstDash val="solid"/>
              <a:round/>
              <a:headEnd len="med" w="med" type="none"/>
              <a:tailEnd len="med" w="med" type="triangle"/>
            </a:ln>
          </p:spPr>
        </p:cxnSp>
      </p:grpSp>
      <p:sp>
        <p:nvSpPr>
          <p:cNvPr id="339" name="Google Shape;339;g3f60a83da5e_0_0"/>
          <p:cNvSpPr txBox="1"/>
          <p:nvPr/>
        </p:nvSpPr>
        <p:spPr>
          <a:xfrm>
            <a:off x="7252025" y="1649175"/>
            <a:ext cx="2416800" cy="96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rPr>
              <a:t>Nếu nhấn “</a:t>
            </a:r>
            <a:r>
              <a:rPr b="1" lang="en-US" sz="1800">
                <a:solidFill>
                  <a:schemeClr val="dk1"/>
                </a:solidFill>
              </a:rPr>
              <a:t>Nhập PQ</a:t>
            </a:r>
            <a:r>
              <a:rPr lang="en-US" sz="1800">
                <a:solidFill>
                  <a:schemeClr val="dk1"/>
                </a:solidFill>
              </a:rPr>
              <a:t>” thì chuyển sang màn hình này:</a:t>
            </a:r>
            <a:endParaRPr sz="1800">
              <a:solidFill>
                <a:schemeClr val="dk1"/>
              </a:solidFill>
            </a:endParaRPr>
          </a:p>
        </p:txBody>
      </p:sp>
      <p:sp>
        <p:nvSpPr>
          <p:cNvPr id="340" name="Google Shape;340;g3f60a83da5e_0_0"/>
          <p:cNvSpPr txBox="1"/>
          <p:nvPr/>
        </p:nvSpPr>
        <p:spPr>
          <a:xfrm>
            <a:off x="9927150" y="6154950"/>
            <a:ext cx="862800" cy="3069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000">
                <a:solidFill>
                  <a:schemeClr val="dk1"/>
                </a:solidFill>
              </a:rPr>
              <a:t>Lịch sử</a:t>
            </a:r>
            <a:endParaRPr b="1" sz="1000">
              <a:solidFill>
                <a:schemeClr val="dk1"/>
              </a:solidFill>
            </a:endParaRPr>
          </a:p>
        </p:txBody>
      </p:sp>
      <p:cxnSp>
        <p:nvCxnSpPr>
          <p:cNvPr id="341" name="Google Shape;341;g3f60a83da5e_0_0"/>
          <p:cNvCxnSpPr/>
          <p:nvPr/>
        </p:nvCxnSpPr>
        <p:spPr>
          <a:xfrm>
            <a:off x="2133925" y="2606600"/>
            <a:ext cx="0" cy="3417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pic>
        <p:nvPicPr>
          <p:cNvPr id="346" name="Google Shape;346;g3f6a9e4d297_0_0"/>
          <p:cNvPicPr preferRelativeResize="0"/>
          <p:nvPr/>
        </p:nvPicPr>
        <p:blipFill>
          <a:blip r:embed="rId3">
            <a:alphaModFix/>
          </a:blip>
          <a:stretch>
            <a:fillRect/>
          </a:stretch>
        </p:blipFill>
        <p:spPr>
          <a:xfrm>
            <a:off x="8195075" y="867599"/>
            <a:ext cx="2692775" cy="5838003"/>
          </a:xfrm>
          <a:prstGeom prst="rect">
            <a:avLst/>
          </a:prstGeom>
          <a:noFill/>
          <a:ln>
            <a:noFill/>
          </a:ln>
        </p:spPr>
      </p:pic>
      <p:sp>
        <p:nvSpPr>
          <p:cNvPr id="347" name="Google Shape;347;g3f6a9e4d297_0_0"/>
          <p:cNvSpPr txBox="1"/>
          <p:nvPr>
            <p:ph type="ctrTitle"/>
          </p:nvPr>
        </p:nvSpPr>
        <p:spPr>
          <a:xfrm>
            <a:off x="1342930" y="268525"/>
            <a:ext cx="10245600" cy="446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70C0"/>
              </a:buClr>
              <a:buSzPts val="2400"/>
              <a:buFont typeface="Times New Roman"/>
              <a:buNone/>
            </a:pPr>
            <a:r>
              <a:rPr b="1" lang="en-US" sz="2400">
                <a:solidFill>
                  <a:srgbClr val="0070C0"/>
                </a:solidFill>
                <a:latin typeface="Times New Roman"/>
                <a:ea typeface="Times New Roman"/>
                <a:cs typeface="Times New Roman"/>
                <a:sym typeface="Times New Roman"/>
              </a:rPr>
              <a:t>NÂNG TRẢI NGHIỆM NGƯỜI DÙNG</a:t>
            </a:r>
            <a:endParaRPr/>
          </a:p>
        </p:txBody>
      </p:sp>
      <p:pic>
        <p:nvPicPr>
          <p:cNvPr descr="A logo with a group of people&#10;&#10;AI-generated content may be incorrect." id="348" name="Google Shape;348;g3f6a9e4d297_0_0"/>
          <p:cNvPicPr preferRelativeResize="0"/>
          <p:nvPr/>
        </p:nvPicPr>
        <p:blipFill rotWithShape="1">
          <a:blip r:embed="rId4">
            <a:alphaModFix/>
          </a:blip>
          <a:srcRect b="11589" l="7196" r="9995" t="15199"/>
          <a:stretch/>
        </p:blipFill>
        <p:spPr>
          <a:xfrm>
            <a:off x="-779050" y="65757"/>
            <a:ext cx="964005" cy="852236"/>
          </a:xfrm>
          <a:prstGeom prst="rect">
            <a:avLst/>
          </a:prstGeom>
          <a:noFill/>
          <a:ln>
            <a:noFill/>
          </a:ln>
        </p:spPr>
      </p:pic>
      <p:pic>
        <p:nvPicPr>
          <p:cNvPr id="349" name="Google Shape;349;g3f6a9e4d297_0_0"/>
          <p:cNvPicPr preferRelativeResize="0"/>
          <p:nvPr/>
        </p:nvPicPr>
        <p:blipFill>
          <a:blip r:embed="rId5">
            <a:alphaModFix/>
          </a:blip>
          <a:stretch>
            <a:fillRect/>
          </a:stretch>
        </p:blipFill>
        <p:spPr>
          <a:xfrm>
            <a:off x="337355" y="867625"/>
            <a:ext cx="2692781" cy="5837974"/>
          </a:xfrm>
          <a:prstGeom prst="rect">
            <a:avLst/>
          </a:prstGeom>
          <a:noFill/>
          <a:ln>
            <a:noFill/>
          </a:ln>
        </p:spPr>
      </p:pic>
      <p:sp>
        <p:nvSpPr>
          <p:cNvPr id="350" name="Google Shape;350;g3f6a9e4d297_0_0"/>
          <p:cNvSpPr txBox="1"/>
          <p:nvPr/>
        </p:nvSpPr>
        <p:spPr>
          <a:xfrm>
            <a:off x="1098925" y="1481375"/>
            <a:ext cx="2692800" cy="3989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US" sz="1300">
                <a:solidFill>
                  <a:schemeClr val="dk1"/>
                </a:solidFill>
              </a:rPr>
              <a:t>Chỉ số Cảm Xúc (EQ) là gì?</a:t>
            </a:r>
            <a:endParaRPr b="1" sz="13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sz="1200">
                <a:solidFill>
                  <a:schemeClr val="dk1"/>
                </a:solidFill>
              </a:rPr>
              <a:t>EQ (Emotional Quotient)</a:t>
            </a:r>
            <a:r>
              <a:rPr lang="en-US" sz="1200">
                <a:solidFill>
                  <a:schemeClr val="dk1"/>
                </a:solidFill>
              </a:rPr>
              <a:t> phản ánh khả năng </a:t>
            </a:r>
            <a:r>
              <a:rPr b="1" lang="en-US" sz="1200">
                <a:solidFill>
                  <a:schemeClr val="dk1"/>
                </a:solidFill>
              </a:rPr>
              <a:t>nhận biết, hiểu và quản lý cảm xúc của bản thân, đồng thời thấu hiểu và ứng xử phù hợp với người khác.</a:t>
            </a:r>
            <a:endParaRPr b="1"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sz="1200">
                <a:solidFill>
                  <a:schemeClr val="dk1"/>
                </a:solidFill>
              </a:rPr>
              <a:t>5 năng lực chính:</a:t>
            </a:r>
            <a:endParaRPr b="1"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200">
                <a:solidFill>
                  <a:schemeClr val="dk1"/>
                </a:solidFill>
              </a:rPr>
              <a:t>🧠 </a:t>
            </a:r>
            <a:r>
              <a:rPr b="1" lang="en-US" sz="1200">
                <a:solidFill>
                  <a:schemeClr val="dk1"/>
                </a:solidFill>
              </a:rPr>
              <a:t>Nhận biết cảm xúc</a:t>
            </a:r>
            <a:br>
              <a:rPr b="1" lang="en-US" sz="1200">
                <a:solidFill>
                  <a:schemeClr val="dk1"/>
                </a:solidFill>
              </a:rPr>
            </a:br>
            <a:r>
              <a:rPr lang="en-US" sz="1200">
                <a:solidFill>
                  <a:schemeClr val="dk1"/>
                </a:solidFill>
              </a:rPr>
              <a:t>Hiểu mình đang cảm thấy gì và vì sao.</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200">
                <a:solidFill>
                  <a:schemeClr val="dk1"/>
                </a:solidFill>
              </a:rPr>
              <a:t>🎯 </a:t>
            </a:r>
            <a:r>
              <a:rPr b="1" lang="en-US" sz="1200">
                <a:solidFill>
                  <a:schemeClr val="dk1"/>
                </a:solidFill>
              </a:rPr>
              <a:t>Kiểm soát cảm xúc</a:t>
            </a:r>
            <a:br>
              <a:rPr b="1" lang="en-US" sz="1200">
                <a:solidFill>
                  <a:schemeClr val="dk1"/>
                </a:solidFill>
              </a:rPr>
            </a:br>
            <a:r>
              <a:rPr lang="en-US" sz="1200">
                <a:solidFill>
                  <a:schemeClr val="dk1"/>
                </a:solidFill>
              </a:rPr>
              <a:t>Biết điều chỉnh cảm xúc, giữ bình tĩnh trước tình huống khó.</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200">
                <a:solidFill>
                  <a:schemeClr val="dk1"/>
                </a:solidFill>
              </a:rPr>
              <a:t>❤️ </a:t>
            </a:r>
            <a:r>
              <a:rPr b="1" lang="en-US" sz="1200">
                <a:solidFill>
                  <a:schemeClr val="dk1"/>
                </a:solidFill>
              </a:rPr>
              <a:t>Đồng cảm</a:t>
            </a:r>
            <a:br>
              <a:rPr b="1" lang="en-US" sz="1200">
                <a:solidFill>
                  <a:schemeClr val="dk1"/>
                </a:solidFill>
              </a:rPr>
            </a:br>
            <a:r>
              <a:rPr lang="en-US" sz="1200">
                <a:solidFill>
                  <a:schemeClr val="dk1"/>
                </a:solidFill>
              </a:rPr>
              <a:t>Hiểu và cảm nhận được cảm xúc, suy nghĩ của người khác.</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200">
                <a:solidFill>
                  <a:schemeClr val="dk1"/>
                </a:solidFill>
              </a:rPr>
              <a:t>🔥 </a:t>
            </a:r>
            <a:r>
              <a:rPr b="1" lang="en-US" sz="1200">
                <a:solidFill>
                  <a:schemeClr val="dk1"/>
                </a:solidFill>
              </a:rPr>
              <a:t>Động lực</a:t>
            </a:r>
            <a:br>
              <a:rPr b="1" lang="en-US" sz="1200">
                <a:solidFill>
                  <a:schemeClr val="dk1"/>
                </a:solidFill>
              </a:rPr>
            </a:br>
            <a:r>
              <a:rPr lang="en-US" sz="1200">
                <a:solidFill>
                  <a:schemeClr val="dk1"/>
                </a:solidFill>
              </a:rPr>
              <a:t>Biết đặt mục tiêu, duy trì nỗ lực và vượt qua khó khăn.</a:t>
            </a:r>
            <a:endParaRPr sz="1200">
              <a:solidFill>
                <a:schemeClr val="dk1"/>
              </a:solidFill>
            </a:endParaRPr>
          </a:p>
          <a:p>
            <a:pPr indent="0" lvl="0" marL="0" rtl="0" algn="l">
              <a:lnSpc>
                <a:spcPct val="100000"/>
              </a:lnSpc>
              <a:spcBef>
                <a:spcPts val="0"/>
              </a:spcBef>
              <a:spcAft>
                <a:spcPts val="0"/>
              </a:spcAft>
              <a:buNone/>
            </a:pPr>
            <a:r>
              <a:rPr lang="en-US" sz="1200">
                <a:solidFill>
                  <a:schemeClr val="dk1"/>
                </a:solidFill>
              </a:rPr>
              <a:t>🤝 </a:t>
            </a:r>
            <a:r>
              <a:rPr b="1" lang="en-US" sz="1200">
                <a:solidFill>
                  <a:schemeClr val="dk1"/>
                </a:solidFill>
              </a:rPr>
              <a:t>Giao tiếp xã hội</a:t>
            </a:r>
            <a:br>
              <a:rPr b="1" lang="en-US" sz="1200">
                <a:solidFill>
                  <a:schemeClr val="dk1"/>
                </a:solidFill>
              </a:rPr>
            </a:br>
            <a:r>
              <a:rPr lang="en-US" sz="1200">
                <a:solidFill>
                  <a:schemeClr val="dk1"/>
                </a:solidFill>
              </a:rPr>
              <a:t>Biết lắng nghe, hợp tác và xây dựng mối quan hệ tích cực.</a:t>
            </a:r>
            <a:endParaRPr b="1" sz="1200">
              <a:solidFill>
                <a:schemeClr val="dk1"/>
              </a:solidFill>
            </a:endParaRPr>
          </a:p>
        </p:txBody>
      </p:sp>
      <p:pic>
        <p:nvPicPr>
          <p:cNvPr id="351" name="Google Shape;351;g3f6a9e4d297_0_0"/>
          <p:cNvPicPr preferRelativeResize="0"/>
          <p:nvPr/>
        </p:nvPicPr>
        <p:blipFill>
          <a:blip r:embed="rId6">
            <a:alphaModFix/>
          </a:blip>
          <a:stretch>
            <a:fillRect/>
          </a:stretch>
        </p:blipFill>
        <p:spPr>
          <a:xfrm>
            <a:off x="4214575" y="918000"/>
            <a:ext cx="2692781" cy="5837974"/>
          </a:xfrm>
          <a:prstGeom prst="rect">
            <a:avLst/>
          </a:prstGeom>
          <a:noFill/>
          <a:ln>
            <a:noFill/>
          </a:ln>
        </p:spPr>
      </p:pic>
      <p:sp>
        <p:nvSpPr>
          <p:cNvPr id="352" name="Google Shape;352;g3f6a9e4d297_0_0"/>
          <p:cNvSpPr txBox="1"/>
          <p:nvPr/>
        </p:nvSpPr>
        <p:spPr>
          <a:xfrm>
            <a:off x="4851500" y="1481375"/>
            <a:ext cx="2692800" cy="3989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US" sz="1300">
                <a:solidFill>
                  <a:schemeClr val="dk1"/>
                </a:solidFill>
              </a:rPr>
              <a:t>Chỉ số Vượt khó (AQ) là gì?</a:t>
            </a:r>
            <a:endParaRPr b="1"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1100">
                <a:solidFill>
                  <a:schemeClr val="dk1"/>
                </a:solidFill>
              </a:rPr>
              <a:t>AQ (Adversity Quotient)</a:t>
            </a:r>
            <a:r>
              <a:rPr lang="en-US" sz="1100">
                <a:solidFill>
                  <a:schemeClr val="dk1"/>
                </a:solidFill>
              </a:rPr>
              <a:t> phản ánh khả năng </a:t>
            </a:r>
            <a:r>
              <a:rPr b="1" lang="en-US" sz="1100">
                <a:solidFill>
                  <a:schemeClr val="dk1"/>
                </a:solidFill>
              </a:rPr>
              <a:t>đối mặt, thích nghi và vượt qua khó khăn, thử thách trong cuộc sống.</a:t>
            </a:r>
            <a:endParaRPr b="1"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1100">
                <a:solidFill>
                  <a:schemeClr val="dk1"/>
                </a:solidFill>
              </a:rPr>
              <a:t>5 năng lực chính:</a:t>
            </a:r>
            <a:endParaRPr b="1"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 </a:t>
            </a:r>
            <a:r>
              <a:rPr b="1" lang="en-US" sz="1100">
                <a:solidFill>
                  <a:schemeClr val="dk1"/>
                </a:solidFill>
              </a:rPr>
              <a:t>Khả năng chịu đựng</a:t>
            </a:r>
            <a:br>
              <a:rPr b="1" lang="en-US" sz="1100">
                <a:solidFill>
                  <a:schemeClr val="dk1"/>
                </a:solidFill>
              </a:rPr>
            </a:br>
            <a:r>
              <a:rPr lang="en-US" sz="1100">
                <a:solidFill>
                  <a:schemeClr val="dk1"/>
                </a:solidFill>
              </a:rPr>
              <a:t>Giữ vững tinh thần khi gặp áp lực, thất bại.</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 </a:t>
            </a:r>
            <a:r>
              <a:rPr b="1" lang="en-US" sz="1100">
                <a:solidFill>
                  <a:schemeClr val="dk1"/>
                </a:solidFill>
              </a:rPr>
              <a:t>Kiên trì</a:t>
            </a:r>
            <a:br>
              <a:rPr b="1" lang="en-US" sz="1100">
                <a:solidFill>
                  <a:schemeClr val="dk1"/>
                </a:solidFill>
              </a:rPr>
            </a:br>
            <a:r>
              <a:rPr lang="en-US" sz="1100">
                <a:solidFill>
                  <a:schemeClr val="dk1"/>
                </a:solidFill>
              </a:rPr>
              <a:t>Không dễ bỏ cuộc, tiếp tục cố gắng để đạt mục tiêu.</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 </a:t>
            </a:r>
            <a:r>
              <a:rPr b="1" lang="en-US" sz="1100">
                <a:solidFill>
                  <a:schemeClr val="dk1"/>
                </a:solidFill>
              </a:rPr>
              <a:t>Linh hoạt</a:t>
            </a:r>
            <a:br>
              <a:rPr b="1" lang="en-US" sz="1100">
                <a:solidFill>
                  <a:schemeClr val="dk1"/>
                </a:solidFill>
              </a:rPr>
            </a:br>
            <a:r>
              <a:rPr lang="en-US" sz="1100">
                <a:solidFill>
                  <a:schemeClr val="dk1"/>
                </a:solidFill>
              </a:rPr>
              <a:t>Biết thay đổi cách làm để thích nghi với hoàn cảnh.</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 </a:t>
            </a:r>
            <a:r>
              <a:rPr b="1" lang="en-US" sz="1100">
                <a:solidFill>
                  <a:schemeClr val="dk1"/>
                </a:solidFill>
              </a:rPr>
              <a:t>Tự phản hồi</a:t>
            </a:r>
            <a:br>
              <a:rPr b="1" lang="en-US" sz="1100">
                <a:solidFill>
                  <a:schemeClr val="dk1"/>
                </a:solidFill>
              </a:rPr>
            </a:br>
            <a:r>
              <a:rPr lang="en-US" sz="1100">
                <a:solidFill>
                  <a:schemeClr val="dk1"/>
                </a:solidFill>
              </a:rPr>
              <a:t>Biết nhìn lại, rút kinh nghiệm và cải thiện bản thân.</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a:t>
            </a:r>
            <a:r>
              <a:rPr b="1" lang="en-US" sz="1100">
                <a:solidFill>
                  <a:schemeClr val="dk1"/>
                </a:solidFill>
              </a:rPr>
              <a:t>Tư duy tích cực</a:t>
            </a:r>
            <a:br>
              <a:rPr b="1" lang="en-US" sz="1100">
                <a:solidFill>
                  <a:schemeClr val="dk1"/>
                </a:solidFill>
              </a:rPr>
            </a:br>
            <a:r>
              <a:rPr lang="en-US" sz="1100">
                <a:solidFill>
                  <a:schemeClr val="dk1"/>
                </a:solidFill>
              </a:rPr>
              <a:t>Nhìn thấy cơ hội và giải pháp ngay cả khi gặp khó khăn.</a:t>
            </a:r>
            <a:endParaRPr b="1" sz="1200">
              <a:solidFill>
                <a:schemeClr val="dk1"/>
              </a:solidFill>
            </a:endParaRPr>
          </a:p>
        </p:txBody>
      </p:sp>
      <p:sp>
        <p:nvSpPr>
          <p:cNvPr id="353" name="Google Shape;353;g3f6a9e4d297_0_0"/>
          <p:cNvSpPr txBox="1"/>
          <p:nvPr/>
        </p:nvSpPr>
        <p:spPr>
          <a:xfrm>
            <a:off x="8745675" y="1434150"/>
            <a:ext cx="2692800" cy="3989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US" sz="1300">
                <a:solidFill>
                  <a:schemeClr val="dk1"/>
                </a:solidFill>
              </a:rPr>
              <a:t>Chỉ số thông minh (IQ) là gì?</a:t>
            </a:r>
            <a:endParaRPr b="1" sz="1300">
              <a:solidFill>
                <a:schemeClr val="dk1"/>
              </a:solidFill>
            </a:endParaRPr>
          </a:p>
          <a:p>
            <a:pPr indent="0" lvl="0" marL="0" rtl="0" algn="l">
              <a:lnSpc>
                <a:spcPct val="115000"/>
              </a:lnSpc>
              <a:spcBef>
                <a:spcPts val="0"/>
              </a:spcBef>
              <a:spcAft>
                <a:spcPts val="0"/>
              </a:spcAft>
              <a:buNone/>
            </a:pPr>
            <a:r>
              <a:rPr b="1" lang="en-US" sz="1300">
                <a:solidFill>
                  <a:schemeClr val="dk1"/>
                </a:solidFill>
              </a:rPr>
              <a:t> </a:t>
            </a:r>
            <a:r>
              <a:rPr b="1" lang="en-US" sz="1100">
                <a:solidFill>
                  <a:schemeClr val="dk1"/>
                </a:solidFill>
              </a:rPr>
              <a:t>IQ (Intelligence Quotient)</a:t>
            </a:r>
            <a:r>
              <a:rPr lang="en-US" sz="1100">
                <a:solidFill>
                  <a:schemeClr val="dk1"/>
                </a:solidFill>
              </a:rPr>
              <a:t> phản ánh khả năng </a:t>
            </a:r>
            <a:r>
              <a:rPr b="1" lang="en-US" sz="1100">
                <a:solidFill>
                  <a:schemeClr val="dk1"/>
                </a:solidFill>
              </a:rPr>
              <a:t>tư duy, xử lý thông tin, giải quyết vấn đề và ghi nhớ của mỗi người.</a:t>
            </a:r>
            <a:endParaRPr b="1"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1100">
                <a:solidFill>
                  <a:schemeClr val="dk1"/>
                </a:solidFill>
              </a:rPr>
              <a:t>4 năng lực chính(Chăm con 360):</a:t>
            </a:r>
            <a:endParaRPr b="1"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 </a:t>
            </a:r>
            <a:r>
              <a:rPr b="1" lang="en-US" sz="1100">
                <a:solidFill>
                  <a:schemeClr val="dk1"/>
                </a:solidFill>
              </a:rPr>
              <a:t>Ngôn ngữ</a:t>
            </a:r>
            <a:br>
              <a:rPr b="1" lang="en-US" sz="1100">
                <a:solidFill>
                  <a:schemeClr val="dk1"/>
                </a:solidFill>
              </a:rPr>
            </a:br>
            <a:r>
              <a:rPr lang="en-US" sz="1100">
                <a:solidFill>
                  <a:schemeClr val="dk1"/>
                </a:solidFill>
              </a:rPr>
              <a:t>Khả năng hiểu, sử dụng và diễn đạt ngôn ngữ.</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 </a:t>
            </a:r>
            <a:r>
              <a:rPr b="1" lang="en-US" sz="1100">
                <a:solidFill>
                  <a:schemeClr val="dk1"/>
                </a:solidFill>
              </a:rPr>
              <a:t>Toán học &amp; Logic</a:t>
            </a:r>
            <a:br>
              <a:rPr b="1" lang="en-US" sz="1100">
                <a:solidFill>
                  <a:schemeClr val="dk1"/>
                </a:solidFill>
              </a:rPr>
            </a:br>
            <a:r>
              <a:rPr lang="en-US" sz="1100">
                <a:solidFill>
                  <a:schemeClr val="dk1"/>
                </a:solidFill>
              </a:rPr>
              <a:t>Khả năng suy luận, nhận diện quy luật và giải quyết vấn đề.</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 </a:t>
            </a:r>
            <a:r>
              <a:rPr b="1" lang="en-US" sz="1100">
                <a:solidFill>
                  <a:schemeClr val="dk1"/>
                </a:solidFill>
              </a:rPr>
              <a:t>Hình ảnh</a:t>
            </a:r>
            <a:br>
              <a:rPr b="1" lang="en-US" sz="1100">
                <a:solidFill>
                  <a:schemeClr val="dk1"/>
                </a:solidFill>
              </a:rPr>
            </a:br>
            <a:r>
              <a:rPr lang="en-US" sz="1100">
                <a:solidFill>
                  <a:schemeClr val="dk1"/>
                </a:solidFill>
              </a:rPr>
              <a:t>Khả năng quan sát, hình dung không gian và nhận biết mối quan hệ giữa các hình ảnh.</a:t>
            </a:r>
            <a:endParaRPr sz="1100">
              <a:solidFill>
                <a:schemeClr val="dk1"/>
              </a:solidFill>
            </a:endParaRPr>
          </a:p>
          <a:p>
            <a:pPr indent="0" lvl="0" marL="0" rtl="0" algn="l">
              <a:lnSpc>
                <a:spcPct val="115000"/>
              </a:lnSpc>
              <a:spcBef>
                <a:spcPts val="0"/>
              </a:spcBef>
              <a:spcAft>
                <a:spcPts val="0"/>
              </a:spcAft>
              <a:buNone/>
            </a:pPr>
            <a:r>
              <a:rPr lang="en-US" sz="1100">
                <a:solidFill>
                  <a:schemeClr val="dk1"/>
                </a:solidFill>
              </a:rPr>
              <a:t>🧠 </a:t>
            </a:r>
            <a:r>
              <a:rPr b="1" lang="en-US" sz="1100">
                <a:solidFill>
                  <a:schemeClr val="dk1"/>
                </a:solidFill>
              </a:rPr>
              <a:t>Trí nhớ</a:t>
            </a:r>
            <a:br>
              <a:rPr b="1" lang="en-US" sz="1100">
                <a:solidFill>
                  <a:schemeClr val="dk1"/>
                </a:solidFill>
              </a:rPr>
            </a:br>
            <a:r>
              <a:rPr lang="en-US" sz="1100">
                <a:solidFill>
                  <a:schemeClr val="dk1"/>
                </a:solidFill>
              </a:rPr>
              <a:t>Khả năng ghi nhớ, lưu trữ và nhớ lại thông tin khi cần</a:t>
            </a:r>
            <a:endParaRPr b="1" sz="11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2026-04-23T04:23:57Z</dcterms:created>
  <dc:creator>Hoàng Minh Vương</dc:creator>
</cp:coreProperties>
</file>